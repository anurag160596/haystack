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452E"/>
                </a:solidFill>
              </a:rPr>
              <a:t>PART 5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A36"/>
                </a:solidFill>
              </a:rPr>
              <a:t>€120k signs 100 maintenance hires by 31 Dec, if the client assesses 55 a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606B"/>
                </a:solidFill>
              </a:rPr>
              <a:t>Operation Uptime · all figures from Operation_Uptime_Simple_Model.xlsx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103120" cy="137160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800" b="1">
                <a:solidFill>
                  <a:srgbClr val="1F2A36"/>
                </a:solidFill>
              </a:rPr>
              <a:t>€120k</a:t>
            </a:r>
          </a:p>
          <a:p>
            <a:r>
              <a:rPr sz="1100">
                <a:solidFill>
                  <a:srgbClr val="55606B"/>
                </a:solidFill>
              </a:rPr>
              <a:t>budget: €100k plan + €20k reserve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7480" y="1463040"/>
            <a:ext cx="2103120" cy="137160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800" b="1">
                <a:solidFill>
                  <a:srgbClr val="1F2A36"/>
                </a:solidFill>
              </a:rPr>
              <a:t>€1,000</a:t>
            </a:r>
          </a:p>
          <a:p>
            <a:r>
              <a:rPr sz="1100">
                <a:solidFill>
                  <a:srgbClr val="55606B"/>
                </a:solidFill>
              </a:rPr>
              <a:t>cost per hire (€1,200 all-in)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463040"/>
            <a:ext cx="2103120" cy="137160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800" b="1">
                <a:solidFill>
                  <a:srgbClr val="B5452E"/>
                </a:solidFill>
              </a:rPr>
              <a:t>98%</a:t>
            </a:r>
          </a:p>
          <a:p>
            <a:r>
              <a:rPr sz="1100">
                <a:solidFill>
                  <a:srgbClr val="55606B"/>
                </a:solidFill>
              </a:rPr>
              <a:t>of 314 assessment slots used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108960"/>
          <a:ext cx="6583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8016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Hires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Spend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€ / hire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Electricians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€38.7k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€1,291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Mechatronics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€29.9k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€664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€16.6k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€1,106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Supervisors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€14.8k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€1,476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A36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€100k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€1,000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06640" y="1463040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2A36"/>
                </a:solidFill>
              </a:rPr>
              <a:t>Top 3 risks → action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2A36"/>
                </a:solidFill>
              </a:rPr>
              <a:t>Capacity: </a:t>
            </a:r>
            <a:r>
              <a:rPr sz="1300">
                <a:solidFill>
                  <a:srgbClr val="1F2A36"/>
                </a:solidFill>
              </a:rPr>
              <a:t>pace ≤55 assessments a week; ask for +9 slots.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2A36"/>
                </a:solidFill>
              </a:rPr>
              <a:t>Electricians: </a:t>
            </a:r>
            <a:r>
              <a:rPr sz="1300">
                <a:solidFill>
                  <a:srgbClr val="1F2A36"/>
                </a:solidFill>
              </a:rPr>
              <a:t>construction-electrician route needs the client's OK by 23 Oct.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2A36"/>
                </a:solidFill>
              </a:rPr>
              <a:t>Christmas: </a:t>
            </a:r>
            <a:r>
              <a:rPr sz="1300">
                <a:solidFill>
                  <a:srgbClr val="1F2A36"/>
                </a:solidFill>
              </a:rPr>
              <a:t>offers within 3 days; last applications Tue 24 Nov.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420624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2A36"/>
                </a:solidFill>
              </a:rPr>
              <a:t>What I need from you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55 assessments a week from 22 Oct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Day-1 export of past applicants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€1,000 referral bonus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Construction-electrician decision by 23 Oct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Approve €120k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452E"/>
                </a:solidFill>
              </a:rPr>
              <a:t>PART 1 ·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A36"/>
                </a:solidFill>
              </a:rPr>
              <a:t>100 hires need ~311 qualified applicants; the plan brings 308 for 314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606B"/>
                </a:solidFill>
              </a:rPr>
              <a:t>Operation Uptime · all figures from Operation_Uptime_Simple_Model.xlsx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1371600"/>
                <a:gridCol w="1463040"/>
                <a:gridCol w="1371600"/>
                <a:gridCol w="1371600"/>
                <a:gridCol w="128016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Hires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App → qualified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Qualified → passed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Passed → offer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Offer → signed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Qualified needed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Applications needed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Electricians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Mechatronics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55%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75%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121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485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Supervisors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23%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40%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70%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183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A36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1,260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F2A36"/>
                </a:solidFill>
              </a:rPr>
              <a:t>Sources: </a:t>
            </a:r>
            <a:r>
              <a:rPr sz="1500">
                <a:solidFill>
                  <a:srgbClr val="1F2A36"/>
                </a:solidFill>
              </a:rPr>
              <a:t>IAB (1 in 4 applications suitable), Gem (pass rates), Königsteiner (offer acceptance). All labelled on the Inputs tab.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F2A36"/>
                </a:solidFill>
              </a:rPr>
              <a:t>Capacity: </a:t>
            </a:r>
            <a:r>
              <a:rPr sz="1500">
                <a:solidFill>
                  <a:srgbClr val="1F2A36"/>
                </a:solidFill>
              </a:rPr>
              <a:t>assessments run 22 Oct – 30 Nov (40 days): 55 × 40 ÷ 7 = 314 slots. The plan uses 98%.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F2A36"/>
                </a:solidFill>
              </a:rPr>
              <a:t>Last useful application: </a:t>
            </a:r>
            <a:r>
              <a:rPr sz="1500">
                <a:solidFill>
                  <a:srgbClr val="1F2A36"/>
                </a:solidFill>
              </a:rPr>
              <a:t>18 Dec signature − 7 − 3 − 8 − 6 days = Tue 24 Nov (supervisors Tue 17 Nov).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452E"/>
                </a:solidFill>
              </a:rPr>
              <a:t>PART 1 · HARDEST ROLE AND MOST SENSITIVE ASSUMPTION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A36"/>
                </a:solidFill>
              </a:rPr>
              <a:t>Electricians are hardest; a 30% worse pass rate leaves ~71 hires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606B"/>
                </a:solidFill>
              </a:rPr>
              <a:t>Operation Uptime · all figures from Operation_Uptime_Simple_Model.xlsx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1F2A36"/>
                </a:solidFill>
              </a:rPr>
              <a:t>Why electricians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6"/>
                </a:solidFill>
              </a:rPr>
              <a:t>• Scarcest trade in Brandenburg: 85.7% of vacancies have no suitable jobseeker, vs 41.4% overall (KOFA 2026).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6"/>
                </a:solidFill>
              </a:rPr>
              <a:t>• Dearest cost per hire: €1,291.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6"/>
                </a:solidFill>
              </a:rPr>
              <a:t>• No Polish route, and foreign-trained electricians need 2–4 months of recognition.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1F2A36"/>
                </a:solidFill>
              </a:rPr>
              <a:t>Most sensitive: the pass rate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6"/>
                </a:solidFill>
              </a:rPr>
              <a:t>• 30% worse pass rate → 440 qualified needed for 314 slots → ~71 hires.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6"/>
                </a:solidFill>
              </a:rPr>
              <a:t>• Money can't fix it: the slots are full.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6"/>
                </a:solidFill>
              </a:rPr>
              <a:t>• A lower share qualified or dearer clicks only cost money, not hires.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6"/>
                </a:solidFill>
              </a:rPr>
              <a:t>• First read on 2 Nov; if low, tighten screening questions and ask for more slots.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452E"/>
                </a:solidFill>
              </a:rPr>
              <a:t>PART 2 ·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A36"/>
                </a:solidFill>
              </a:rPr>
              <a:t>Each role buys its hires from the cheapest source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606B"/>
                </a:solidFill>
              </a:rPr>
              <a:t>Operation Uptime · all figures from Operation_Uptime_Simple_Model.xlsx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78638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097280"/>
                <a:gridCol w="1188720"/>
                <a:gridCol w="118872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Roles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Spend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€ / hire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Hires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Organic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E M A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Past applicants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E M A 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€65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€14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4.7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Polish border corridor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€6.9k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18.0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Employee referrals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E M A 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€11k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€1,000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11.0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Construction electricians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€11.1k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€1,329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StepStone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E M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€5.8k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€1,567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3.7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LinkedIn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A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€28.6k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€1,688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16.9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Programmatic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E M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€36.5k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€2,116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17.3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A36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€100k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€1,000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95360" y="146304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2A36"/>
                </a:solidFill>
              </a:rPr>
              <a:t>How it works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Cost per hire = cost per application ÷ share qualified ÷ qualified → signed.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Each source is capped by how many people it can reach.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Every paid source starts with a €750 test in weeks 1–2.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E electricians · M mechatronics · A automation · S supervisors.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452E"/>
                </a:solidFill>
              </a:rPr>
              <a:t>PART 2 ·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A36"/>
                </a:solidFill>
              </a:rPr>
              <a:t>€100k planned, paced to the assessment slots, plus a €20k reserve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606B"/>
                </a:solidFill>
              </a:rPr>
              <a:t>Operation Uptime · all figures from Operation_Uptime_Simple_Model.xlsx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5943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554480"/>
                <a:gridCol w="173736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Spend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Qualified arriving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Slots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Wk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€27.5k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Wk 2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€17.5k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Wk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€17.5k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Wk 4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€17.5k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Wk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€17.5k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Wk 6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€2.5k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A36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€100k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F2A36"/>
                </a:solidFill>
              </a:rPr>
              <a:t>Testing: </a:t>
            </a:r>
            <a:r>
              <a:rPr sz="1500">
                <a:solidFill>
                  <a:srgbClr val="1F2A36"/>
                </a:solidFill>
              </a:rPr>
              <a:t>€6k in weeks 1–2 (€750 per paid source and role).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F2A36"/>
                </a:solidFill>
              </a:rPr>
              <a:t>Money moves: </a:t>
            </a:r>
            <a:r>
              <a:rPr sz="1500">
                <a:solidFill>
                  <a:srgbClr val="1F2A36"/>
                </a:solidFill>
              </a:rPr>
              <a:t>weak sources cut from Mon 2 Nov; strong ones get +25% a week.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F2A36"/>
                </a:solidFill>
              </a:rPr>
              <a:t>Reserve: </a:t>
            </a:r>
            <a:r>
              <a:rPr sz="1500">
                <a:solidFill>
                  <a:srgbClr val="1F2A36"/>
                </a:solidFill>
              </a:rPr>
              <a:t>€20k (15% + rounding), released only on results.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F2A36"/>
                </a:solidFill>
              </a:rPr>
              <a:t>Spend stops: </a:t>
            </a:r>
            <a:r>
              <a:rPr sz="1500">
                <a:solidFill>
                  <a:srgbClr val="1F2A36"/>
                </a:solidFill>
              </a:rPr>
              <a:t>Tue 24 Nov, the last useful application date.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F2A36"/>
                </a:solidFill>
              </a:rPr>
              <a:t>Why week 1 is biggest: </a:t>
            </a:r>
            <a:r>
              <a:rPr sz="1500">
                <a:solidFill>
                  <a:srgbClr val="1F2A36"/>
                </a:solidFill>
              </a:rPr>
              <a:t>its applicants fill 11 days of assessments (22 Oct – 1 Nov).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452E"/>
                </a:solidFill>
              </a:rPr>
              <a:t>PART 2 · SMALLER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A36"/>
                </a:solidFill>
              </a:rPr>
              <a:t>30% less (€84k) signs ~87; electricians and supervisors fall short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606B"/>
                </a:solidFill>
              </a:rPr>
              <a:t>Operation Uptime · all figures from Operation_Uptime_Simple_Model.xlsx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5943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83080"/>
                <a:gridCol w="17830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Recommended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30% less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Electricians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20.6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Mechatronics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45.0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15.0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A36"/>
                          </a:solidFill>
                        </a:rPr>
                        <a:t>Supervisors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A36"/>
                          </a:solidFill>
                        </a:rPr>
                        <a:t>6.3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A36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6"/>
                          </a:solidFill>
                        </a:rPr>
                        <a:t>86.9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1F2A36"/>
                </a:solidFill>
              </a:rPr>
              <a:t>Rule: </a:t>
            </a:r>
            <a:r>
              <a:rPr sz="1500">
                <a:solidFill>
                  <a:srgbClr val="1F2A36"/>
                </a:solidFill>
              </a:rPr>
              <a:t>cut the dearest cost-per-hire sources first; keep the 15% reserve.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F2A36"/>
                </a:solidFill>
              </a:rPr>
              <a:t>Falls short: </a:t>
            </a:r>
            <a:r>
              <a:rPr sz="1500">
                <a:solidFill>
                  <a:srgbClr val="1F2A36"/>
                </a:solidFill>
              </a:rPr>
              <a:t>electricians (programmatic is their dearest source) and supervisors (LinkedIn).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F2A36"/>
                </a:solidFill>
              </a:rPr>
              <a:t>What I'd tell the client: </a:t>
            </a:r>
            <a:r>
              <a:rPr sz="1500">
                <a:solidFill>
                  <a:srgbClr val="1F2A36"/>
                </a:solidFill>
              </a:rPr>
              <a:t>the last €36k buys ~13 hires, mostly electricians. Keep it; if you must cut, cover supervisors by internal promotion.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452E"/>
                </a:solidFill>
              </a:rPr>
              <a:t>PART 3 · NEW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A36"/>
                </a:solidFill>
              </a:rPr>
              <a:t>Three new sources supply ~42 of the 100 hires, one built for electricians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606B"/>
                </a:solidFill>
              </a:rPr>
              <a:t>Operation Uptime · all figures from Operation_Uptime_Simple_Model.xlsx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2A36"/>
                </a:solidFill>
              </a:rPr>
              <a:t>Past applicants + referrals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Who: ~211 past runners-up (estimate) + staff referrals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How: email/SMS on days 2, 7, 14; €1,000 per signed referral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Maths: ~16 hires for ~€11k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Test 21 Oct – 3 Nov: pass ≥14 qualified, kill &lt;8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Setup 1 day. Client: GDPR-checked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46304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2A36"/>
                </a:solidFill>
              </a:rPr>
              <a:t>Construction electricians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Who: ~10,000 within 75 km (BA)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How: social ads + 6-question quiz; 2–4 week bridge course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Maths: 118 apps × €84 + €1.2k → 8.4 hires (€1,329 each)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Test 23 Oct – 5 Nov: pass ≥7 qualified at ≤€500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Setup 3 days. Client: profile OK by 23 Oct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46304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2A36"/>
                </a:solidFill>
              </a:rPr>
              <a:t>Polish border corridor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Who: mechatronics workers 60–130 km away (EU)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How: Polish job boards + a Polish-speaking pre-screener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Maths: 346 apps × €18.75 + €400 → 18 hires (40% cap)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Test 27 Oct – 9 Nov: pass ≥12 qualified at ≤€200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6"/>
                </a:solidFill>
              </a:rPr>
              <a:t>• Setup 1 week. Client: approve the 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F2A36"/>
                </a:solidFill>
              </a:rPr>
              <a:t>Repeatable Joveo product: </a:t>
            </a:r>
            <a:r>
              <a:rPr sz="1300">
                <a:solidFill>
                  <a:srgbClr val="1F2A36"/>
                </a:solidFill>
              </a:rPr>
              <a:t>past-applicant rediscovery — every employer holds consented past applicants; Joveo can add them as one more tracked source in any market.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452E"/>
                </a:solidFill>
              </a:rPr>
              <a:t>PART 4 · RUN IT WEEK BY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A36"/>
                </a:solidFill>
              </a:rPr>
              <a:t>Track by source and role, move money on simple rules, check the riskiest assumptions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606B"/>
                </a:solidFill>
              </a:rPr>
              <a:t>Operation Uptime · all figures from Operation_Uptime_Simple_Model.xlsx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F2A36"/>
                </a:solidFill>
              </a:rPr>
              <a:t>Track every Monday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36"/>
                </a:solidFill>
              </a:rPr>
              <a:t>• Spend, applications, qualified by source × role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36"/>
                </a:solidFill>
              </a:rPr>
              <a:t>• Assessed, passed, offers, signed by role (ATS source tag)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36"/>
                </a:solidFill>
              </a:rPr>
              <a:t>• Data: Joveo tracked links + Monday ATS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F2A36"/>
                </a:solidFill>
              </a:rPr>
              <a:t>Money rules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36"/>
                </a:solidFill>
              </a:rPr>
              <a:t>• Judge after €500 or 30 applications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36"/>
                </a:solidFill>
              </a:rPr>
              <a:t>• 20% cheaper than plan → +25% a week; 50% dearer → halve; 2× → off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36"/>
                </a:solidFill>
              </a:rPr>
              <a:t>• Over 55 qualified next week → pause the dearest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F2A36"/>
                </a:solidFill>
              </a:rPr>
              <a:t>Week-2 checks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36"/>
                </a:solidFill>
              </a:rPr>
              <a:t>• Pass rate (read 2 Nov): if low → sharper screening, more slots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36"/>
                </a:solidFill>
              </a:rPr>
              <a:t>• Construction-electrician quality (9 Nov): if poor → programmatic fills the gap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36"/>
                </a:solidFill>
              </a:rPr>
              <a:t>• Real test costs: re-rank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9319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F2A36"/>
                </a:solidFill>
              </a:rPr>
              <a:t>First five actions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36"/>
                </a:solidFill>
              </a:rPr>
              <a:t>• Tue 20 Oct: kick-off; lock slots, dates, bonus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36"/>
                </a:solidFill>
              </a:rPr>
              <a:t>• Tue–Wed: launch sources and tests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36"/>
                </a:solidFill>
              </a:rPr>
              <a:t>• Wed 21 Oct: past-applicant wave + referrals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36"/>
                </a:solidFill>
              </a:rPr>
              <a:t>• Fri 23 Oct: construction campaign live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A36"/>
                </a:solidFill>
              </a:rPr>
              <a:t>• Mon 26 Oct: first read-out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