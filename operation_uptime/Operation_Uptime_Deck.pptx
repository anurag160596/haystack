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f8a88073-1330-45f4-e01b-74e6f738fc02}">
          <p14:sldIdLst>
            <p14:sldId id="256"/>
          </p14:sldIdLst>
        </p14:section>
        <p14:section name="Part 1 Funnel" id="{08f63a34-2e00-4d71-998a-54ca1fa06ea6}">
          <p14:sldIdLst>
            <p14:sldId id="257"/>
            <p14:sldId id="258"/>
          </p14:sldIdLst>
        </p14:section>
        <p14:section name="Part 2 Channels &amp; budget" id="{4ac4808e-65dd-04a2-3d11-db03ca21dcf1}">
          <p14:sldIdLst>
            <p14:sldId id="259"/>
            <p14:sldId id="260"/>
            <p14:sldId id="261"/>
          </p14:sldIdLst>
        </p14:section>
        <p14:section name="Part 3 New sources" id="{7588a314-d594-f44b-138b-d79c8ec2f33c}">
          <p14:sldIdLst>
            <p14:sldId id="262"/>
          </p14:sldIdLst>
        </p14:section>
        <p14:section name="Part 4 Run it" id="{0199cb29-7037-d626-ce5e-195b1b3658b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</c:v>
                </c:pt>
                <c:pt idx="1">
                  <c:v>52</c:v>
                </c:pt>
                <c:pt idx="2">
                  <c:v>53</c:v>
                </c:pt>
                <c:pt idx="3">
                  <c:v>54</c:v>
                </c:pt>
                <c:pt idx="4">
                  <c:v>54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72</c:v>
                </c:pt>
                <c:pt idx="2">
                  <c:v>72</c:v>
                </c:pt>
                <c:pt idx="3">
                  <c:v>100</c:v>
                </c:pt>
                <c:pt idx="4">
                  <c:v>100</c:v>
                </c:pt>
                <c:pt idx="5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4323</c:v>
                </c:pt>
                <c:pt idx="1">
                  <c:v>6762</c:v>
                </c:pt>
                <c:pt idx="2">
                  <c:v>9766</c:v>
                </c:pt>
                <c:pt idx="3">
                  <c:v>12446</c:v>
                </c:pt>
                <c:pt idx="4">
                  <c:v>12446</c:v>
                </c:pt>
                <c:pt idx="5">
                  <c:v>12374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11743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388</c:v>
                </c:pt>
                <c:pt idx="4">
                  <c:v>702</c:v>
                </c:pt>
                <c:pt idx="5">
                  <c:v>1031</c:v>
                </c:pt>
                <c:pt idx="6">
                  <c:v>1346</c:v>
                </c:pt>
                <c:pt idx="7">
                  <c:v>1406</c:v>
                </c:pt>
                <c:pt idx="8">
                  <c:v>1655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23.4</c:v>
                </c:pt>
                <c:pt idx="3">
                  <c:v>16.5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14.7</c:v>
                </c:pt>
                <c:pt idx="2">
                  <c:v>14.7</c:v>
                </c:pt>
                <c:pt idx="3">
                  <c:v>14.7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9.8</c:v>
                </c:pt>
                <c:pt idx="2">
                  <c:v>9.8</c:v>
                </c:pt>
                <c:pt idx="3">
                  <c:v>9.4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€85.4k planned + €17.1k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€854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(≤€1,025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314 assessment slots used (305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(17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~50% we sign all 100, ~80% at least 90 (my judgement; slots are 97% used). If pass or acceptance rates are 30% worse, ~72.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(€71.75k): ~93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75488"/>
                <a:gridCol w="548640"/>
                <a:gridCol w="640080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€46.5k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9.5 · rediscovery 4.3 · StepStone 4.3 · referrals 4.1 · organic 3.8 · other 4.1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Polish corridor 18.0 · organic 13.4 · rediscovery 7.7 · StepStone 4.8 · tests 1.2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2.3 · organic 2.3 · referrals 1.5 · tests 0.3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€1,457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4.5 · StepStone 1.8 · rediscovery 1.3 · organic 1.1 · referrals 1.0 · other 0.2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€85.4k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€17.1k reserve = €102.5k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(~€13/hire) → Polish corridor (≤40% of mechatronics) → StepStone (7 ads) → referrals, LinkedIn → construction-electrician campaign, Search. Pace ≤55 qualified a week; paid spend stops Tue 24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97% used. Pre-screened sources first, pace ≤55/wk, ask +10–15 slots (65/wk → 80%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~9 of 30 need your OK on construction electricians by 23 Oct; else more StepStone (~€1,022/hire), then Search and programmatic at €3.8k–€4.3k/hire.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Tue 24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€102.5k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~305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635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441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2,047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Sourced where data exists (IAB: 28% of applications suitable; Gem interview-pass and Königsteiner/StepStone offer-acceptance data), own estimates otherwise; each labelled on the Assumptions tab. Few applicants qualify (brief), and foreign-trained electricians can't be recognised in time (2–4 months, §6 BQFG).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305 qualified / 1,525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6 days, → interview 8, → offer 3, → signature 7 (first two: SmartRecruiters DE benchmark); supervisors +7. Last realistic signature Fri 18 Dec, so applications must arrive by Tue 24 Nov (E/M/A) and Tue 17 Nov (supervisors). Slots = 55 × 40 days ÷ 7 = 314.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37 of 39 slots; weeks 2–5: 52–54 of 55; week 6: 55; assessments end Mon 30 Nov. Rediscovery re-applicants (waves 21 Oct, 26 Oct and 2 Nov) and the €750 tests fill weeks 1–2, so regular spend ramps 7%, 11%, 16%, then 21–25%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~28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436 qualified for 314 slots (139%). The 43% more media that would need can't help: slots cap hires at ~72.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13.4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€14 · 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€12 · 7.7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€15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€18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€92 / €248 · 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€1,022 · 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€446 · 4.8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€1,363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€1,624 · 1.8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€362 / €1,000 · 4.1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€326 / €1,000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€274 / €1,000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€384 / €1,354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€480 / €2,017 · 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€1,680 / €5,333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€700 / €1,886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€3,788 · 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€1,929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€4,209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€1,492 / €6,268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€1,342 / €4,259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€732 / €1,971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€1,342 / €4,733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€1,610 / €6,765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€560 / €2,349 · 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 ads (7 × €1,449) are costed whole and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Sourced: StepStone €1,449/30-day ad (stepstone.de price list) · cost per application, DACH medians: Indeed €161, Google €179, LinkedIn €96, Meta €84 (TalentBait, 2,549 campaigns, 2024–26) · share qualified: 28% of applications suitable (IAB-Stellenerhebung 2026) · pools: BA employment statistics by KldB code (Dec 2025) · time-to-offer: SmartRecruiters Germany benchmark. Every source and every remaining own estimate is labelled with its URL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€85.4k planned across roles and weeks, plus €17.1k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€52.0k paid channels (incl. €9.0k tests) + €31.8k initiative media, pre-screen calls and bonuses + €1.6k set-up = €85.4k. Reserve: 15% of €100.5k plus rounding = €17.1k.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€31.8k (31%), mostly tests. Duds are cut from Mon 2 Nov (after €500 / 30 apps); tests and the full re-allocation are judged by Mon 9 Nov; the reserve moves only from week 3. Paid media stops after Tue 24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€46.5k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€1,457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€85.4k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€854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€3,632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€20.8k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€2,786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€2,349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(€71.75k) still signs ~93,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€102.50k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€87.13k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€71.75k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€51.25k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−30%); automation and supervisors lose under 1 hire each (14.7 of 15, 9.8 of 10).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€30.75k buys ~7 hires at ~€4,290 each, mostly electricians, the role that keeps lines running. Keep it. If you must cut, cover supervisors through internal promotion and protect electricians. Above €102.5k, extra money buys at most ~3 more hires (the 9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~50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qualified, my estimate), already wanted Tesla,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€210 + €6.5k bonuses → 84 re-apps + 43 referrals → ~61 qualified → ~22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€210. Pass: ≥20 qualified (≥⅓ electricians). Kill: &lt;11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(Elektroniker EGT, BA KldB 2621)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250 apps × €84 = €21.0k + €1.2k set-up → 38 qualified × 25% = 9.5 hires (€2,349/hire)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€5.8k. Pass: ≥4 qualified at ≤€700. Kill: &lt;3, &gt;€840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200 apps × €20.25 + €400 → 44 qualified × 41%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€1.5k. Pass: ≥7 qualified at ≤€120. Kill: &lt;4, &gt;€140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~€13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more StepStone ads, then Search and programmatic; expect ~25–27 electricians (my judgement: capacity allows 30, but slower and at €1,022–€3,788 per hire).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2026-10-08T21:51:15Z</dcterms:created>
  <dcterms:modified xsi:type="dcterms:W3CDTF">2026-10-08T21:51:15Z</dcterms:modified>
</cp:coreProperties>
</file>