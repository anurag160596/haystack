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926d00cb-f4c4-a5ae-228c-4b0c3d50167d}">
          <p14:sldIdLst>
            <p14:sldId id="256"/>
          </p14:sldIdLst>
        </p14:section>
        <p14:section name="Part 1 Funnel" id="{bcddfa11-b553-bbe0-2f01-c9d6baa03d4b}">
          <p14:sldIdLst>
            <p14:sldId id="257"/>
            <p14:sldId id="258"/>
          </p14:sldIdLst>
        </p14:section>
        <p14:section name="Part 2 Channels &amp; budget" id="{b6fd8dc5-8654-efcf-1ac9-a8ae9c1301a4}">
          <p14:sldIdLst>
            <p14:sldId id="259"/>
            <p14:sldId id="260"/>
            <p14:sldId id="261"/>
          </p14:sldIdLst>
        </p14:section>
        <p14:section name="Part 3 New sources" id="{28f08e97-08e9-652a-c441-6ff0d03d04ae}">
          <p14:sldIdLst>
            <p14:sldId id="262"/>
          </p14:sldIdLst>
        </p14:section>
        <p14:section name="Part 4 Run it" id="{3412d43f-7a5c-a7e5-bfbb-44fa7efd31c2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 (given)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per channel)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Paid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19399</c:v>
                </c:pt>
                <c:pt idx="1">
                  <c:v>11248</c:v>
                </c:pt>
                <c:pt idx="2">
                  <c:v>13947</c:v>
                </c:pt>
                <c:pt idx="3">
                  <c:v>14327</c:v>
                </c:pt>
                <c:pt idx="4">
                  <c:v>13822</c:v>
                </c:pt>
                <c:pt idx="5">
                  <c:v>1552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ads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2467</c:v>
                </c:pt>
                <c:pt idx="4">
                  <c:v>1782</c:v>
                </c:pt>
                <c:pt idx="5">
                  <c:v>1980</c:v>
                </c:pt>
                <c:pt idx="6">
                  <c:v>2078</c:v>
                </c:pt>
                <c:pt idx="7">
                  <c:v>2381</c:v>
                </c:pt>
                <c:pt idx="8">
                  <c:v>290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by role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Recommended (€120k)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45</c:v>
                </c:pt>
                <c:pt idx="2">
                  <c:v>15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30% less (€84k)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Electricians</c:v>
                  </c:pt>
                  <c:pt idx="1">
                    <c:v>Mechatronics</c:v>
                  </c:pt>
                  <c:pt idx="2">
                    <c:v>Automation</c:v>
                  </c:pt>
                  <c:pt idx="3">
                    <c:v>Supervisors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20.6</c:v>
                </c:pt>
                <c:pt idx="1">
                  <c:v>44.4</c:v>
                </c:pt>
                <c:pt idx="2">
                  <c:v>14.5</c:v>
                </c:pt>
                <c:pt idx="3">
                  <c:v>7.5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come from the model's Summary, Budget and Funnel tabs.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 signs 100 maintenance hires by 31 Dec, if the client can assess 55 a week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€120k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budget: €101.7k plan + €18.3k reserve, released only on results</a:t>
            </a:r>
            <a:endParaRPr lang="en-US" sz="950" dirty="0"/>
          </a:p>
        </p:txBody>
      </p:sp>
      <p:sp>
        <p:nvSpPr>
          <p:cNvPr id="7" name="stat1"/>
          <p:cNvSpPr/>
          <p:nvPr/>
        </p:nvSpPr>
        <p:spPr>
          <a:xfrm>
            <a:off x="1764792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856232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€1,017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856232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media cost per hire (€1,200 if the reserve is spent)</a:t>
            </a:r>
            <a:endParaRPr lang="en-US" sz="950" dirty="0"/>
          </a:p>
        </p:txBody>
      </p:sp>
      <p:sp>
        <p:nvSpPr>
          <p:cNvPr id="10" name="stat2"/>
          <p:cNvSpPr/>
          <p:nvPr/>
        </p:nvSpPr>
        <p:spPr>
          <a:xfrm>
            <a:off x="3072384" y="1188720"/>
            <a:ext cx="1234440" cy="1600200"/>
          </a:xfrm>
          <a:prstGeom prst="roundRect">
            <a:avLst>
              <a:gd name="adj" fmla="val 59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63824" y="1280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163824" y="178308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of 314 assessment slots used: capacity, not money, is the limit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9718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Plan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€750 test in each pay-per-click channel in weeks 1–2, then buy hires cheapest first.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Three new sources bring ~42 hires: past applicants + referrals, construction electricians, Polish border towns.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Pace ≤55 assessments a week; applications until Tue 24 Nov, signatures by Fri 18 Dec.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How sure: 100 if funnel rates hold, with no slack (98% of slots used); pass rate 10% worse → ~92; 30% less budget → ~87.</a:t>
            </a:r>
            <a:endParaRPr lang="en-US" sz="12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685800"/>
                <a:gridCol w="91440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risks"/>
          <p:cNvSpPr/>
          <p:nvPr/>
        </p:nvSpPr>
        <p:spPr>
          <a:xfrm>
            <a:off x="8686800" y="1188720"/>
            <a:ext cx="3044952" cy="26517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144000" y="12801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what I'll do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8823960" y="1645920"/>
            <a:ext cx="27889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Assessment 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pace ≤55 a week, pre-screened sources first, ask for +9 slots. If assessments can't start 22 Oct: ~92 hires (100 then needs 60 a week).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construction-electrician route needs your OK by 23 Oct; without it €130k.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offers within 3 days, e-signature, stop spend Tue 24 Nov.</a:t>
            </a:r>
            <a:endParaRPr lang="en-US" sz="1100" dirty="0"/>
          </a:p>
        </p:txBody>
      </p:sp>
      <p:sp>
        <p:nvSpPr>
          <p:cNvPr id="19" name="asks"/>
          <p:cNvSpPr/>
          <p:nvPr/>
        </p:nvSpPr>
        <p:spPr>
          <a:xfrm>
            <a:off x="8686800" y="3977640"/>
            <a:ext cx="3044952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087368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144000" y="40690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2" name="Text 17"/>
          <p:cNvSpPr txBox="1"/>
          <p:nvPr/>
        </p:nvSpPr>
        <p:spPr>
          <a:xfrm>
            <a:off x="8778240" y="4407408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 a week from Thu 22 Oct (+9 if possible)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export of past applicants (GDPR-checked)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Approve €120k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498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640080"/>
                <a:gridCol w="914400"/>
                <a:gridCol w="960120"/>
                <a:gridCol w="868680"/>
                <a:gridCol w="868680"/>
                <a:gridCol w="960120"/>
                <a:gridCol w="10058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 → qualified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→ passed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Applications needed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16052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IAB (about 1 in 4 applications is suitable), Gem (interview pass rates), German offer-acceptance surveys. Each one is labelled on the Assumptions tab.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93776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signature, Fri 18 Dec: offer → signed 7 days, interview → offer 3, assessment → interview 8, application → assessment 6. So applications must arrive by Tue 24 Nov (supervisors Tue 17 Nov).</a:t>
            </a:r>
            <a:endParaRPr lang="en-US" sz="1200" dirty="0"/>
          </a:p>
        </p:txBody>
      </p:sp>
      <p:sp>
        <p:nvSpPr>
          <p:cNvPr id="7" name="capacity"/>
          <p:cNvSpPr/>
          <p:nvPr/>
        </p:nvSpPr>
        <p:spPr>
          <a:xfrm>
            <a:off x="8229600" y="1188720"/>
            <a:ext cx="3502152" cy="4846320"/>
          </a:xfrm>
          <a:prstGeom prst="roundRect">
            <a:avLst>
              <a:gd name="adj" fmla="val 20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412480" y="1325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Capacity check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173736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2651760"/>
            <a:ext cx="31546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308 qualified applicants in the plan (from 1,490 applications) against 314 slots: 55 a week × 40 assessment days ÷ 7.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plan fits, but with almost no headroom. Every week is paced to stay within 55 (Weekly tab).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050" dirty="0">
                <a:solidFill>
                  <a:schemeClr val="tx2"/>
                </a:solidFill>
              </a:rPr>
              <a:t>Why 308, not 311: referrals and past applicants convert better than the table's standard rates, so the plan needs slightly fewer. Applications: 1,490, not 1,260, because the plan's channels average 21% qualified (social ads lower), below the ~25% baseline.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MOST SENSITIVE ASSUMPTION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sp>
        <p:nvSpPr>
          <p:cNvPr id="4" name="hardest"/>
          <p:cNvSpPr/>
          <p:nvPr/>
        </p:nvSpPr>
        <p:spPr>
          <a:xfrm>
            <a:off x="457200" y="1188720"/>
            <a:ext cx="53949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325880"/>
            <a:ext cx="50292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Why electricians are hardest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Scarcest trade in Brandenburg: 85.7% of vacancies have no suitable unemployed candidate, against 41.4% across all jobs (KOFA 2026).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Dearest last hire: €2,272, the highest of the four roles (Funnel column H).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back door: no Polish route, and foreign-trained electricians need 2–4 months of recognition.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Automation has a tighter pool and less channel headroom (22% of reachable people vs 12%), but needs only 15 and costs less per hire, so it is watched weekly.</a:t>
            </a:r>
            <a:endParaRPr lang="en-US" sz="1300" dirty="0"/>
          </a:p>
        </p:txBody>
      </p:sp>
      <p:graphicFrame>
        <p:nvGraphicFramePr>
          <p:cNvPr id="6" name="sensChart" descr=""/>
          <p:cNvGraphicFramePr/>
          <p:nvPr/>
        </p:nvGraphicFramePr>
        <p:xfrm>
          <a:off x="6126480" y="1188720"/>
          <a:ext cx="5605272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126480" y="4526280"/>
            <a:ext cx="56052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the pass rate.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means 440 qualified applicants for 314 slots, so only ~71 can be hired; spending more doesn't help. Acceptance ties, but fast offers protect it; the pass rate depends on the plant's own test and is only known after interviews (week-2 check). A weaker share qualified or dearer clicks only cost money (at least +43% / +30% media), not hires.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role buys its hires cheapest cost-per-hire first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78638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822960"/>
                <a:gridCol w="3383280"/>
                <a:gridCol w="1051560"/>
                <a:gridCol w="868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Why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per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Free: careers site, BA Jobbörse, Google for Jobs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Past applicants, already screened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Large pool across the border (≤40% of mechatronics)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Staff know the job; €1,000 bonus on signing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Construction electricians: a new pool for the hardest 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Germany's main CV job board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PLC and Meister profiles (automation, supervisors)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Indeed and other boards, paid per application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€2,143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16.4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Reaches people who aren't job-hunting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€2,388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 M A 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High intent, but the dearest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hanNotes"/>
          <p:cNvSpPr/>
          <p:nvPr/>
        </p:nvSpPr>
        <p:spPr>
          <a:xfrm>
            <a:off x="8595360" y="1188720"/>
            <a:ext cx="3136392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778240" y="1325880"/>
            <a:ext cx="28346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How it works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Cost per hire = cost per application ÷ share qualified ÷ qualified → signed.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channel is capped by how many people in the local talent pool it can reach.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Each pay-per-click channel gets a €750 test per role first; Search and Meta stay at test level, and so does programmatic for automation and supervisors.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chemeClr val="tx1"/>
                </a:solidFill>
              </a:rPr>
              <a:t>Roles: E electricians, M mechatronics, A automation, S supervisors.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€101.7k planned across roles and weeks, plus a €18.3k reserve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58368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budg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188720"/>
          <a:ext cx="432511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960120"/>
                <a:gridCol w="868680"/>
                <a:gridCol w="1124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€29.9k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€663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€101.7k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€1,017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06640" y="3886200"/>
            <a:ext cx="43251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Testing: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€9k in weeks 1–2: 12 tests of €750 (programmatic, LinkedIn, Meta, Search × role).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Moving money: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weak channels cut from Mon 2 Nov; tests judged by Mon 9 Nov.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Reserve: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€18.3k (15% + rounding), released from week 3 only on results.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Paid media stops: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24 Nov, the last useful application date (referral bonuses are paid as people sign).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457200" y="50292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chemeClr val="tx2"/>
                </a:solidFill>
              </a:rPr>
              <a:t>Why week 1 is biggest: assessments start 22 Oct and an unused slot is lost, so week-1 applications must fill 11 days of slots (22 Oct – 1 Nov). The tests then decide where weeks 3–6 money goes. Week 6 is small: only 24 Nov is still a useful application day.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(€84k) signs ~87; electricians fall short first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005840"/>
                <a:gridCol w="1399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€ per hire (all-in)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Recommended · €120k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30% less · €84k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498080" y="2377440"/>
            <a:ext cx="42336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channels first; keep the reserve at 15%.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electricians 20.6 of 30, supervisors 7.5 of 10, mechatronics 44.4 of 45, automation 14.5 of 15.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€36k buys ~13 hires, mostly electricians, the people who keep the lines running. Keep it. If you must cut, the rule cuts the dearest channels, which are mostly electrician and supervisor channels: agree that up front, and cover supervisors by internal promotion.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Already screened and already wanted Tesla; ~€2.50 per application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€63 + €11k bonuses → 25 re-apps + 66 referrals → ~42 qualified → ~16 hires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Wed 21 Oct – Tue 3 Nov (waves 1–3): €63. Pass: ≥13 qualified. Kill: &lt;7 → no further re-contacts; bonus stays live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day (live Wed 21 Oct). Me: copy, segments, tracked links. Client: GDPR-checked export, bonus approval, one staff message</a:t>
            </a:r>
            <a:endParaRPr lang="en-US" sz="115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~10,000 construction electricians within 75 km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Fri 23 Oct – Thu 5 Nov (read Mon 9 Nov): €4.8k. Pass: ≥6 qualified at ≤€500. Kill: &lt;4, &gt;€670 per qualified, or profile rejected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3 days (live Fri 23 Oct). Me: ads, quiz, German copywriter. Client: profile sign-off by 23 Oct, bridge course</a:t>
            </a:r>
            <a:endParaRPr lang="en-US" sz="115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42062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~13,800 Poles commute to Brandenburg jobs, ~1,700 in machine, metal and building trades (IAB 2020); the call checks language before using our slots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Setup 1 week (live Tue 27 Oct). Me: Polish ads, hire the freelancer via rocketjobs.pl (~€19/h), call script, weekly call checks. Client: approve the ads</a:t>
            </a:r>
            <a:endParaRPr lang="en-US" sz="115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504688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150" dirty="0">
                <a:solidFill>
                  <a:schemeClr val="tx1"/>
                </a:solidFill>
              </a:rPr>
              <a:t>Every employer holds past applicants who consented to be kept on file (GDPR allows up to a year), and nobody re-markets them. Here 211 records cost ~€14 per hire and fill week-1 slots. Joveo already runs the tracked links and distribution, so a consented past-applicant feed is one more source in the same pipeline, in any market, with no local staff.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By source × role: spend, applications, qualified. By role: assessed, passed, offers, signed (each hire keeps its ATS source tag)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Data: Joveo tracked links + Monday ATS export (source tag), recruiter codes, pre-screener sheet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Tracker tab turns this into decisions and a hire forecast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20% cheaper than plan → +25% a week from the reserve; 50% dearer → halve; 2× → off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Over 55 qualified next week → pause the dearest; under 50 → release reserve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 by Mon 2 Nov (confirm 9 Nov)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Pass rate: first read 2 Nov, confirmed 9 Nov once a role has 10 interviews; if low → tighter knock-out questions, ask for more slots (10% lower ≈ 92 hires)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Construction electricians: if stopped, programmatic fills the gap (€130k)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Real test costs: re-rank channels; acceptance read after 5 offers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 20 Oct: kick-off with client; lock slots, 18 Dec date, bonus; request ATS export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Tue–Wed: launch channels and tests with tracked links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 21 Oct: past-applicant wave 1 + referral launch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Wed–Fri: set up Polish ads + freelancer (live 27 Oct); construction campaign live 23 Oct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Mon 26 Oct: first read-out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Operation Uptime case study</dc:subject>
  <dc:creator/>
  <cp:lastModifiedBy/>
  <cp:revision>1</cp:revision>
  <dcterms:created xsi:type="dcterms:W3CDTF">2026-10-09T14:49:21Z</dcterms:created>
  <dcterms:modified xsi:type="dcterms:W3CDTF">2026-10-09T14:49:21Z</dcterms:modified>
</cp:coreProperties>
</file>