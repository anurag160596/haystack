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ummary" id="{54a71469-4236-bda2-0b26-6cabd6ce2030}">
          <p14:sldIdLst>
            <p14:sldId id="256"/>
          </p14:sldIdLst>
        </p14:section>
        <p14:section name="Part 1 Funnel" id="{00875c10-09bf-44b3-7d0b-a43a5f7c7e46}">
          <p14:sldIdLst>
            <p14:sldId id="257"/>
            <p14:sldId id="258"/>
          </p14:sldIdLst>
        </p14:section>
        <p14:section name="Part 2 Channels &amp; budget" id="{7fc5a8a6-5596-3a6b-0fc5-bb8ea5b5e2b0}">
          <p14:sldIdLst>
            <p14:sldId id="259"/>
            <p14:sldId id="260"/>
            <p14:sldId id="261"/>
          </p14:sldIdLst>
        </p14:section>
        <p14:section name="Part 3 New sources" id="{64d396eb-54d0-552c-75da-aad4e3cdf8f6}">
          <p14:sldIdLst>
            <p14:sldId id="262"/>
          </p14:sldIdLst>
        </p14:section>
        <p14:section name="Part 4 Run it" id="{a524c6b6-ad41-7ff2-aa85-a56c1581f70f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Qualified applicants vs the 55/week limit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Qualified arriving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</c:v>
                </c:pt>
                <c:pt idx="1">
                  <c:v>54</c:v>
                </c:pt>
                <c:pt idx="2">
                  <c:v>54</c:v>
                </c:pt>
                <c:pt idx="3">
                  <c:v>53</c:v>
                </c:pt>
                <c:pt idx="4">
                  <c:v>54</c:v>
                </c:pt>
                <c:pt idx="5">
                  <c:v>54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Assessment slots</c:v>
                </c:pt>
              </c:strCache>
            </c:strRef>
          </c:tx>
          <c:spPr>
            <a:solidFill>
              <a:srgbClr val="D6DEE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39</c:v>
                </c:pt>
                <c:pt idx="1">
                  <c:v>55</c:v>
                </c:pt>
                <c:pt idx="2">
                  <c:v>55</c:v>
                </c:pt>
                <c:pt idx="3">
                  <c:v>55</c:v>
                </c:pt>
                <c:pt idx="4">
                  <c:v>55</c:v>
                </c:pt>
                <c:pt idx="5">
                  <c:v>55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Hires possible by 31 Dec if one input is 30% worse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Hires possible by 31 Dec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D4F5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Base case</c:v>
                  </c:pt>
                  <c:pt idx="1">
                    <c:v>Pass rate ×0.7</c:v>
                  </c:pt>
                  <c:pt idx="2">
                    <c:v>Acceptance ×0.7</c:v>
                  </c:pt>
                  <c:pt idx="3">
                    <c:v>Share qualified ×0.7</c:v>
                  </c:pt>
                  <c:pt idx="4">
                    <c:v>Cost per app ×1.3</c:v>
                  </c:pt>
                  <c:pt idx="5">
                    <c:v>Capacity ×0.7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71</c:v>
                </c:pt>
                <c:pt idx="2">
                  <c:v>71</c:v>
                </c:pt>
                <c:pt idx="3">
                  <c:v>100</c:v>
                </c:pt>
                <c:pt idx="4">
                  <c:v>100</c:v>
                </c:pt>
                <c:pt idx="5">
                  <c:v>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D4F5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b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Cash out by week (€)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Tests (€750 × 12 cells)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3600</c:v>
                </c:pt>
                <c:pt idx="1">
                  <c:v>5400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CPC/CPA media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6858</c:v>
                </c:pt>
                <c:pt idx="1">
                  <c:v>11006</c:v>
                </c:pt>
                <c:pt idx="2">
                  <c:v>13646</c:v>
                </c:pt>
                <c:pt idx="3">
                  <c:v>13639</c:v>
                </c:pt>
                <c:pt idx="4">
                  <c:v>14018</c:v>
                </c:pt>
                <c:pt idx="5">
                  <c:v>13247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StepStone + set-up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7396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Referral bonuses (on signing)</c:v>
                </c:pt>
              </c:strCache>
            </c:strRef>
          </c:tx>
          <c:spPr>
            <a:solidFill>
              <a:srgbClr val="1F8A7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Wk 1</c:v>
                  </c:pt>
                  <c:pt idx="1">
                    <c:v>Wk 2</c:v>
                  </c:pt>
                  <c:pt idx="2">
                    <c:v>Wk 3</c:v>
                  </c:pt>
                  <c:pt idx="3">
                    <c:v>Wk 4</c:v>
                  </c:pt>
                  <c:pt idx="4">
                    <c:v>Wk 5</c:v>
                  </c:pt>
                  <c:pt idx="5">
                    <c:v>Wk 6</c:v>
                  </c:pt>
                  <c:pt idx="6">
                    <c:v>Wk 7</c:v>
                  </c:pt>
                  <c:pt idx="7">
                    <c:v>Wk 8</c:v>
                  </c:pt>
                  <c:pt idx="8">
                    <c:v>Wk 9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888</c:v>
                </c:pt>
                <c:pt idx="4">
                  <c:v>1559</c:v>
                </c:pt>
                <c:pt idx="5">
                  <c:v>1983</c:v>
                </c:pt>
                <c:pt idx="6">
                  <c:v>2032</c:v>
                </c:pt>
                <c:pt idx="7">
                  <c:v>2082</c:v>
                </c:pt>
                <c:pt idx="8">
                  <c:v>2434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€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C2833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C2833"/>
                </a:solidFill>
                <a:latin typeface="+mn-lt"/>
              </a:rPr>
              <a:t>Expected hires by role at each budget level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Electricians</c:v>
                </c:pt>
              </c:strCache>
            </c:strRef>
          </c:tx>
          <c:spPr>
            <a:solidFill>
              <a:srgbClr val="B5452F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€117.50k</c:v>
                  </c:pt>
                  <c:pt idx="1">
                    <c:v>85% · €99.88k</c:v>
                  </c:pt>
                  <c:pt idx="2">
                    <c:v>70% · €82.25k</c:v>
                  </c:pt>
                  <c:pt idx="3">
                    <c:v>50% · €58.75k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25.1</c:v>
                </c:pt>
                <c:pt idx="2">
                  <c:v>20.6</c:v>
                </c:pt>
                <c:pt idx="3">
                  <c:v>20.6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Mechatronics</c:v>
                </c:pt>
              </c:strCache>
            </c:strRef>
          </c:tx>
          <c:spPr>
            <a:solidFill>
              <a:srgbClr val="264653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€117.50k</c:v>
                  </c:pt>
                  <c:pt idx="1">
                    <c:v>85% · €99.88k</c:v>
                  </c:pt>
                  <c:pt idx="2">
                    <c:v>70% · €82.25k</c:v>
                  </c:pt>
                  <c:pt idx="3">
                    <c:v>50% · €58.75k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45</c:v>
                </c:pt>
                <c:pt idx="1">
                  <c:v>44.7</c:v>
                </c:pt>
                <c:pt idx="2">
                  <c:v>44.7</c:v>
                </c:pt>
                <c:pt idx="3">
                  <c:v>37.8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Automation</c:v>
                </c:pt>
              </c:strCache>
            </c:strRef>
          </c:tx>
          <c:spPr>
            <a:solidFill>
              <a:srgbClr val="E8A317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€117.50k</c:v>
                  </c:pt>
                  <c:pt idx="1">
                    <c:v>85% · €99.88k</c:v>
                  </c:pt>
                  <c:pt idx="2">
                    <c:v>70% · €82.25k</c:v>
                  </c:pt>
                  <c:pt idx="3">
                    <c:v>50% · €58.75k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15</c:v>
                </c:pt>
                <c:pt idx="1">
                  <c:v>14.5</c:v>
                </c:pt>
                <c:pt idx="2">
                  <c:v>14.5</c:v>
                </c:pt>
                <c:pt idx="3">
                  <c:v>14.5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Supervisors</c:v>
                </c:pt>
              </c:strCache>
            </c:strRef>
          </c:tx>
          <c:spPr>
            <a:solidFill>
              <a:srgbClr val="5D6D7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100% · €117.50k</c:v>
                  </c:pt>
                  <c:pt idx="1">
                    <c:v>85% · €99.88k</c:v>
                  </c:pt>
                  <c:pt idx="2">
                    <c:v>70% · €82.25k</c:v>
                  </c:pt>
                  <c:pt idx="3">
                    <c:v>50% · €58.75k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10</c:v>
                </c:pt>
                <c:pt idx="1">
                  <c:v>9.6</c:v>
                </c:pt>
                <c:pt idx="2">
                  <c:v>6.8</c:v>
                </c:pt>
                <c:pt idx="3">
                  <c:v>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D4F5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3E8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D6D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5 one-page summary. All figures were generated from the model's Summary, Budget and Funnel tabs; re-run the deck build after changing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 Uptime · hypothetical case · all figures from Operation_Uptime_Model.xlsx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image" Target="../media/image-6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5 · SUMMARY FOR THE HEAD OF TALENT ACQUISITION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€117.5k signs 100 maintenance hires by 31 Dec if the 55 weekly assessments hold</a:t>
            </a:r>
            <a:endParaRPr lang="en-US" sz="2200" dirty="0"/>
          </a:p>
        </p:txBody>
      </p:sp>
      <p:sp>
        <p:nvSpPr>
          <p:cNvPr id="4" name="stat0"/>
          <p:cNvSpPr/>
          <p:nvPr/>
        </p:nvSpPr>
        <p:spPr>
          <a:xfrm>
            <a:off x="457200" y="118872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2618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€117.5k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75564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recommended budget: €99.8k planned + €17.7k reserve released only on results</a:t>
            </a:r>
            <a:endParaRPr lang="en-US" sz="1000" dirty="0"/>
          </a:p>
        </p:txBody>
      </p:sp>
      <p:sp>
        <p:nvSpPr>
          <p:cNvPr id="7" name="stat1"/>
          <p:cNvSpPr/>
          <p:nvPr/>
        </p:nvSpPr>
        <p:spPr>
          <a:xfrm>
            <a:off x="2331720" y="118872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441448" y="126187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€998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2441448" y="175564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media cost per hire (≤€1,175 if the reserve is spent); excludes Joveo fees</a:t>
            </a:r>
            <a:endParaRPr lang="en-US" sz="1000" dirty="0"/>
          </a:p>
        </p:txBody>
      </p:sp>
      <p:sp>
        <p:nvSpPr>
          <p:cNvPr id="10" name="stat2"/>
          <p:cNvSpPr/>
          <p:nvPr/>
        </p:nvSpPr>
        <p:spPr>
          <a:xfrm>
            <a:off x="457200" y="260604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267919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98%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17296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of 314 assessment slots used (308 qualified). Capacity, not money, is the limit</a:t>
            </a:r>
            <a:endParaRPr lang="en-US" sz="1000" dirty="0"/>
          </a:p>
        </p:txBody>
      </p:sp>
      <p:sp>
        <p:nvSpPr>
          <p:cNvPr id="13" name="stat3"/>
          <p:cNvSpPr/>
          <p:nvPr/>
        </p:nvSpPr>
        <p:spPr>
          <a:xfrm>
            <a:off x="2331720" y="2606040"/>
            <a:ext cx="1783080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441448" y="2679192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Nov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2441448" y="3172968"/>
            <a:ext cx="1600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last useful application (17 Nov for supervisors): signatures by Fri 18 Dec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148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How sure: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100 if the funnel rates hold, with slots 98% used. Pass rates 10% worse: ~92 hires (slots run out); 30% worse: ~71. </a:t>
            </a:r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With 30% less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(€82.25k): ~87 hires; electricians fall short first (20.6 of 30).</a:t>
            </a:r>
            <a:endParaRPr lang="en-US" sz="1100" dirty="0"/>
          </a:p>
        </p:txBody>
      </p:sp>
      <p:graphicFrame>
        <p:nvGraphicFramePr>
          <p:cNvPr id="2" name="hire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43400" y="1188720"/>
          <a:ext cx="4114800" cy="914400"/>
        </p:xfrm>
        <a:graphic>
          <a:graphicData uri="http://schemas.openxmlformats.org/drawingml/2006/table">
            <a:tbl>
              <a:tblPr/>
              <a:tblGrid>
                <a:gridCol w="896112"/>
                <a:gridCol w="457200"/>
                <a:gridCol w="640080"/>
                <a:gridCol w="603504"/>
                <a:gridCol w="1517904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 / hire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sources (hires)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Electricians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€38.0k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€1,266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Handwerk→Industrie 8.4 · Meta 6.3 · organic 5.9 · referrals 3.3 · programmatic 2.9 · other 3.3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Mechatronics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€28.9k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€643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Polish corridor 18.0 · organic 10.4 · Meta 7.0 · referrals 5.0 · StepStone 2.0 · other 2.6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€17.4k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€1,158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 9.5 · organic 2.7 · referrals 1.6 · rediscovery 0.7 · tests 0.5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€15.5k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€1,550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LinkedIn 6.6 · organic 1.4 · referrals 1.1 · rediscovery 0.5 · tests 0.4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€99.8k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€998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€17.7k reserve = €117.5k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4343400" y="4663440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Plan: </a:t>
            </a:r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€750 test in every paid CPC/CPA cell in weeks 1–2, then buy hires cheapest-first: free channels → ATS rediscovery → Polish corridor (≤40% of mechatronics) → referrals → construction-electrician campaign → StepStone → LinkedIn → Meta → programmatic. Pace ≤55 qualified a week; paid spend stops Tue 24 Nov.</a:t>
            </a:r>
            <a:endParaRPr lang="en-US" sz="1100" dirty="0"/>
          </a:p>
        </p:txBody>
      </p:sp>
      <p:sp>
        <p:nvSpPr>
          <p:cNvPr id="19" name="risks"/>
          <p:cNvSpPr/>
          <p:nvPr/>
        </p:nvSpPr>
        <p:spPr>
          <a:xfrm>
            <a:off x="8686800" y="1188720"/>
            <a:ext cx="3044952" cy="2788920"/>
          </a:xfrm>
          <a:prstGeom prst="roundRect">
            <a:avLst>
              <a:gd name="adj" fmla="val 262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1298448"/>
            <a:ext cx="256032" cy="256032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9144000" y="128016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Top 3 risks → response</a:t>
            </a:r>
            <a:endParaRPr lang="en-US" sz="1200" dirty="0"/>
          </a:p>
        </p:txBody>
      </p:sp>
      <p:sp>
        <p:nvSpPr>
          <p:cNvPr id="22" name="Text 18"/>
          <p:cNvSpPr txBox="1"/>
          <p:nvPr/>
        </p:nvSpPr>
        <p:spPr>
          <a:xfrm>
            <a:off x="8823960" y="1645920"/>
            <a:ext cx="27889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Capacity: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98% used. Pre-screened sources first, pace ≤55/wk, ask +9 slots/wk (64/wk → 85% use).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Electrician supply: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~8 of 30 need your OK on construction electricians by 23 Oct; without them programmatic ads fill the gap and the budget rises to €127.5k.</a:t>
            </a:r>
            <a:endParaRPr lang="en-US" sz="11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Christmas: </a:t>
            </a:r>
            <a:pPr indent="0" marL="0">
              <a:spcAft>
                <a:spcPts val="6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3-day offers, e-signature, 7-day offer validity, stop spend Tue 24 Nov.</a:t>
            </a:r>
            <a:endParaRPr lang="en-US" sz="1100" dirty="0"/>
          </a:p>
        </p:txBody>
      </p:sp>
      <p:sp>
        <p:nvSpPr>
          <p:cNvPr id="23" name="asks"/>
          <p:cNvSpPr/>
          <p:nvPr/>
        </p:nvSpPr>
        <p:spPr>
          <a:xfrm>
            <a:off x="8686800" y="4114800"/>
            <a:ext cx="3044952" cy="219456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23960" y="4224528"/>
            <a:ext cx="274320" cy="27432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144000" y="420624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 need from you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8778240" y="4544568"/>
            <a:ext cx="2880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55 assessments/wk 22 Oct–30 Nov (+9 to reach 85% use)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Day-1 ATS export (GDPR-checked) + utm source tags in ATS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€1,000 referral bonus + one staff message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Construction-electrician decision by 23 Oct</a:t>
            </a:r>
            <a:endParaRPr lang="en-US" sz="11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3-day offers, e-signature to 18 Dec; approve €117.5k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BUILD THE FUNNEL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back from 100 hires: ~308 qualified applicants for 314 assessment slots</a:t>
            </a:r>
            <a:endParaRPr lang="en-US" sz="2200" dirty="0"/>
          </a:p>
        </p:txBody>
      </p:sp>
      <p:graphicFrame>
        <p:nvGraphicFramePr>
          <p:cNvPr id="3" name="fu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30936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502920"/>
                <a:gridCol w="640080"/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App → qual.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→ passed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Passed → offer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Offer → signed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→ signed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Qual.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Apps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381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37%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485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90%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28%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212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23%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24%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183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311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1,260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931920"/>
            <a:ext cx="6309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Where the rates come from.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Rates come from IAB (about 1 in 4 applications is suitable), Gem pass rates and German offer-acceptance surveys; every input and its source is on the Assumptions tab. With this channel mix the plan needs </a:t>
            </a:r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308 qualified / 1,619 applications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 (initiatives bring better-screened people).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51663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Latest useful application.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Work back from the last realistic signature, Fri 18 Dec: offer 7 days, interview → offer 3, assessment → interview 8, application → assessment 6 (supervisors +7). So applications must arrive by Tue 24 Nov (supervisors Tue 17 Nov). Slots = 55 × 40 days ÷ 7 = 314.</a:t>
            </a:r>
            <a:endParaRPr lang="en-US" sz="1200" dirty="0"/>
          </a:p>
        </p:txBody>
      </p:sp>
      <p:graphicFrame>
        <p:nvGraphicFramePr>
          <p:cNvPr id="7" name="capacityChart" descr=""/>
          <p:cNvGraphicFramePr/>
          <p:nvPr/>
        </p:nvGraphicFramePr>
        <p:xfrm>
          <a:off x="7040880" y="1188720"/>
          <a:ext cx="4690872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7040880" y="5120640"/>
            <a:ext cx="46908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Week 1: 39 of 39 slots; weeks 2–5: 53–54 of 55; week 6: 54; assessments end Mon 30 Nov. Rediscovery re-applicants (waves 21 Oct, 26 Oct and 2 Nov) and the €750 tests fill weeks 1–2, so regular spend ramps 9%, 14%, 18%, then 18–22% a week.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1 · HARDEST ROLE AND SENSITIVITY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Electricians are hardest; a 30% worse pass rate costs ~29 hires that money can't buy back</a:t>
            </a:r>
            <a:endParaRPr lang="en-US" sz="2200" dirty="0"/>
          </a:p>
        </p:txBody>
      </p:sp>
      <p:graphicFrame>
        <p:nvGraphicFramePr>
          <p:cNvPr id="4" name="hard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60350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960120"/>
                <a:gridCol w="868680"/>
                <a:gridCol w="1051560"/>
                <a:gridCol w="822960"/>
                <a:gridCol w="109728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 coverage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…without I2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Share of reachable pool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Polish route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Foreign-trained by 31 Dec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3.7×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</a:rPr>
                        <a:t>3.4×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12.3×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12.3×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≤40%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3.2×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3.2×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22%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4.0×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4.0×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17%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Yes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342900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Why electricians: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the scarcest trade in Brandenburg (KOFA 2026: 85.7% of vacancies have no suitable unemployed candidate, vs 41.4% across all occupations) and the largest scarce block (30), so they take 38% of the money. No Polish route and no foreign-trained route by 31 Dec. Supervisors cost more per hire and automation has thinner coverage, but they are 10 and 15 hires with fallbacks (internal promotion, foreign-trained).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89204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Most sensitive: qualified → signed.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30% worse pass or acceptance rates need 440 qualified for 314 slots (140%). The 43% more media that would need can't help: slots cap hires at ~71. Upstream misses (share qualified, cost per application) only cost money.</a:t>
            </a:r>
            <a:endParaRPr lang="en-US" sz="1200" dirty="0"/>
          </a:p>
        </p:txBody>
      </p:sp>
      <p:graphicFrame>
        <p:nvGraphicFramePr>
          <p:cNvPr id="7" name="sensChart" descr=""/>
          <p:cNvGraphicFramePr/>
          <p:nvPr/>
        </p:nvGraphicFramePr>
        <p:xfrm>
          <a:off x="6766560" y="1188720"/>
          <a:ext cx="4965192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ens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4572000"/>
          <a:ext cx="496519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63040"/>
                <a:gridCol w="1307592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If 30% worse…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Qualified needed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chemeClr val="bg1"/>
                          </a:solidFill>
                        </a:rPr>
                        <a:t>Media change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Pass rate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Acceptance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440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Share qualified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+43%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Cost per app ×1.3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+30%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Capacity ×0.7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308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+0%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CHANNELS, RANKED BY COST PER HIRE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role buys hires cheapest-first; electricians run out of cheap sources after ~7</a:t>
            </a:r>
            <a:endParaRPr lang="en-US" sz="2200" dirty="0"/>
          </a:p>
        </p:txBody>
      </p:sp>
      <p:graphicFrame>
        <p:nvGraphicFramePr>
          <p:cNvPr id="5" name="channel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74552" cy="914400"/>
        </p:xfrm>
        <a:graphic>
          <a:graphicData uri="http://schemas.openxmlformats.org/drawingml/2006/table">
            <a:tbl>
              <a:tblPr/>
              <a:tblGrid>
                <a:gridCol w="3776472"/>
                <a:gridCol w="1874520"/>
                <a:gridCol w="1874520"/>
                <a:gridCol w="1874520"/>
                <a:gridCol w="18745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 (why)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Organic: careers site, BA Jobbörse, Google for Jobs (free)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5.9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10.4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2.7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 / €0 · 1.4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I1a ATS rediscovery (already screened)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 / €14 · 1.4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 / €12 · 1.9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 / €15 · 0.7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 / €18 · 0.5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I3 Polish corridor + pre-screen (≤40%)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€134 / €383 · 18.0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I1b Referrals (€1,000 bonus on hire)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€362 / €1,000 · 3.3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€427 / €1,000 · 5.0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€326 / €1,000 · 1.6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€274 / €1,000 · 1.1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I2 Handwerk → Industrie (new pool)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€336 / €1,329 · 8.4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StepStone (German, CV-based, €1,449/ad)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€537 / €1,704 · 1.7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€537 / €1,446 · 2.0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€537 / €1,893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€583 / €2,451 · 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LinkedIn (PLC/TIA and Meister profiles)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€427 / €1,505 · 9.5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€464 / €1,949 · 6.6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Meta lead ads (passive blue-collar reach)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€672 / €2,133 · 6.3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€672 / €1,810 · 7.0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accent4"/>
                          </a:solidFill>
                        </a:rPr>
                        <a:t>–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Programmatic (Indeed, Jooble, Talent.com…)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€716 / €2,272 · 2.9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F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€716 / €1,927 · 0.4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€716 / €2,524 · 0.3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€778 / €3,268 · 0.2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Google Search (high intent, low volume)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€1,008 / €3,201 · 0.2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€1,008 / €2,716 · 0.3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€1,008 / €3,557 · 0.2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€1,096 / €4,606 · 0.2 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BC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4937760"/>
            <a:ext cx="201168" cy="201168"/>
          </a:xfrm>
          <a:prstGeom prst="rect">
            <a:avLst/>
          </a:prstGeom>
          <a:solidFill>
            <a:srgbClr val="DCEFE8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bought beyond the test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3200400" y="4937760"/>
            <a:ext cx="201168" cy="201168"/>
          </a:xfrm>
          <a:prstGeom prst="rect">
            <a:avLst/>
          </a:prstGeom>
          <a:solidFill>
            <a:srgbClr val="FBEBC8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4747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€750 test only (T)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943600" y="4937760"/>
            <a:ext cx="201168" cy="201168"/>
          </a:xfrm>
          <a:prstGeom prst="rect">
            <a:avLst/>
          </a:prstGeom>
          <a:solidFill>
            <a:srgbClr val="F2F4F6"/>
          </a:solidFill>
          <a:ln w="12700">
            <a:solidFill>
              <a:srgbClr val="D6DEE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217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not used (capacity reserve)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25780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Cells: cost per qualified / cost per hire · hires planned. Joveo upside: Joveo's own manufacturing cases cut cost per application by 17–32%; applied to programmatic, the budget falls to €107.5k–€112.5k.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BUDGET, ALLOCATION AND PHASING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€99.8k planned across roles and weeks, plus €17.7k reserve released on results</a:t>
            </a:r>
            <a:endParaRPr lang="en-US" sz="2200" dirty="0"/>
          </a:p>
        </p:txBody>
      </p:sp>
      <p:graphicFrame>
        <p:nvGraphicFramePr>
          <p:cNvPr id="4" name="cashChart" descr=""/>
          <p:cNvGraphicFramePr/>
          <p:nvPr/>
        </p:nvGraphicFramePr>
        <p:xfrm>
          <a:off x="457200" y="1188720"/>
          <a:ext cx="60350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846320"/>
            <a:ext cx="6035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Build: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€70.7k paid channels (incl. €9.0k tests) + €27.4k initiative media, pre-screen calls and bonuses + €1.6k set-up = €99.8k. Reserve: 15% of €117.4k plus rounding = €17.7k.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Phasing: </a:t>
            </a:r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weeks 1–2 cost €34.3k (29%), mostly tests. Duds are cut from Mon 2 Nov (after €500 / 30 apps); tests and the full re-allocation are judged by Mon 9 Nov; the reserve moves only from week 3. Paid media stops after Tue 24 Nov.</a:t>
            </a:r>
            <a:endParaRPr lang="en-US" sz="1100" dirty="0"/>
          </a:p>
        </p:txBody>
      </p:sp>
      <p:graphicFrame>
        <p:nvGraphicFramePr>
          <p:cNvPr id="6" name="roleBudg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188720"/>
          <a:ext cx="4965192" cy="914400"/>
        </p:xfrm>
        <a:graphic>
          <a:graphicData uri="http://schemas.openxmlformats.org/drawingml/2006/table">
            <a:tbl>
              <a:tblPr/>
              <a:tblGrid>
                <a:gridCol w="1399032"/>
                <a:gridCol w="914400"/>
                <a:gridCol w="822960"/>
                <a:gridCol w="731520"/>
                <a:gridCol w="1097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Role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…tests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Electricians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€38.0k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30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€1,266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Mechatronics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€28.9k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45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€643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Automation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€17.4k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€1,158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Supervisors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€15.5k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€2.3k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€1,550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€99.8k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€9.0k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€998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chanBudge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3337560"/>
          <a:ext cx="4965192" cy="914400"/>
        </p:xfrm>
        <a:graphic>
          <a:graphicData uri="http://schemas.openxmlformats.org/drawingml/2006/table">
            <a:tbl>
              <a:tblPr/>
              <a:tblGrid>
                <a:gridCol w="1947672"/>
                <a:gridCol w="1005840"/>
                <a:gridCol w="822960"/>
                <a:gridCol w="118872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Channel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Spend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organic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20.3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programmatic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€8.7k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3.8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€2,317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StepStone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€5.8k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3.7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€1,564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LinkedIn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€27.1k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16.1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€1,687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Meta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€26.1k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13.3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€1,963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Google Search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€3.0k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0.9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€3,393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rediscovery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€63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4.6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referrals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€11.0k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11.0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€1,000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Handwerk→Industrie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€11.1k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8.4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€1,329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Polish corridor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€6.9k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18.0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</a:rPr>
                        <a:t>€383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2 · WHAT A SMALLER BUDGET BUYS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 less (€82.25k) still signs ~87; electricians take most of the loss</a:t>
            </a:r>
            <a:endParaRPr lang="en-US" sz="2200" dirty="0"/>
          </a:p>
        </p:txBody>
      </p:sp>
      <p:graphicFrame>
        <p:nvGraphicFramePr>
          <p:cNvPr id="4" name="scenChart" descr=""/>
          <p:cNvGraphicFramePr/>
          <p:nvPr/>
        </p:nvGraphicFramePr>
        <p:xfrm>
          <a:off x="457200" y="1188720"/>
          <a:ext cx="676656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7" name="scen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98080" y="1188720"/>
          <a:ext cx="4233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14400"/>
                <a:gridCol w="130759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Budget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Hires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Cost / hire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100% · €117.50k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100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€1,175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85% · €99.88k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94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€1,064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70% · €82.25k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87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€949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50% · €58.75k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76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€774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0" y="3108960"/>
            <a:ext cx="292608" cy="29260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09560" y="3063240"/>
            <a:ext cx="3822192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Rule: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cut the most expensive cost-per-hire cells first, including their tests and set-up; keep the reserve at 15%.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Falls short first: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at −30%: electricians 20.6 of 30, supervisors 6.8 of 10, automation 14.5 of 15, mechatronics 44.7 of 45. Mechatronics slips to 44.7.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What I'd tell the client: </a:t>
            </a:r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the last €35.25k buys ~13 hires at ~€2,640 each, mostly electricians, the role that keeps lines running. Keep it. If you must cut, cover supervisors through internal promotion and protect electricians. Above €117.5k, extra money buys at most ~2 more hires (the 6 spare slots); then the 55/week limit binds.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3 · NEW SOURCES BEYOND THE USUAL PAID CHANNELS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new sources supply ~42 of the 100 hires, one built for electricians</a:t>
            </a:r>
            <a:endParaRPr lang="en-US" sz="2200" dirty="0"/>
          </a:p>
        </p:txBody>
      </p:sp>
      <p:sp>
        <p:nvSpPr>
          <p:cNvPr id="4" name="init0"/>
          <p:cNvSpPr/>
          <p:nvPr/>
        </p:nvSpPr>
        <p:spPr>
          <a:xfrm>
            <a:off x="457200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298448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32688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I1 · ATS rediscovery + referral sprint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211 past runners-up (consented, last year) + staff referrals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Email + SMS waves on days 2, 7 and 14; €1,000 bonus per signed referral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Already screened and already wanted Tesla; ~€3 per application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€63 + €11.0k bonuses → 25 re-apps + 66 referrals → ~42 qualified → ~16 hires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Wed 21 Oct – Tue 3 Nov (waves 1–3): €63. Pass: ≥10 qualified. Kill: &lt;6 → no further re-contacts; bonus stays live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copy, segments, tracked links. Client: GDPR-checked export, bonus approval, one staff message</a:t>
            </a:r>
            <a:endParaRPr lang="en-US" sz="1200" dirty="0"/>
          </a:p>
        </p:txBody>
      </p:sp>
      <p:sp>
        <p:nvSpPr>
          <p:cNvPr id="8" name="init1"/>
          <p:cNvSpPr/>
          <p:nvPr/>
        </p:nvSpPr>
        <p:spPr>
          <a:xfrm>
            <a:off x="4279392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1298448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754880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I2 · Handwerk → Industrie (electricians)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416552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~10,000 construction electricians within 75 km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Social and search ads with a 6-question quiz; Tesla runs a 2–4 week bridge course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Certified electricians who never search for plant jobs; doubles the hardest pool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118 apps × €84 = €9.9k + €1.2k set-up → 30 qualified × 28% = 8.4 hires (€1,329/hire)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Fri 23 Oct – Thu 5 Nov (read Mon 9 Nov): €3.9k. Pass: ≥4 qualified at ≤€500. Kill: &lt;3, &gt;€670 per qualified, or profile rejected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ads, quiz, copy; live 23 Oct. Client: profile sign-off by 23 Oct, bridge plan</a:t>
            </a:r>
            <a:endParaRPr lang="en-US" sz="1200" dirty="0"/>
          </a:p>
        </p:txBody>
      </p:sp>
      <p:sp>
        <p:nvSpPr>
          <p:cNvPr id="12" name="init2"/>
          <p:cNvSpPr/>
          <p:nvPr/>
        </p:nvSpPr>
        <p:spPr>
          <a:xfrm>
            <a:off x="8101584" y="1188720"/>
            <a:ext cx="3630168" cy="3977640"/>
          </a:xfrm>
          <a:prstGeom prst="roundRect">
            <a:avLst>
              <a:gd name="adj" fmla="val 20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744" y="1298448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577072" y="12618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I3 · Polish border corridor + pre-screener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8238744" y="1691640"/>
            <a:ext cx="33558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Mechatronics workers in Polish border towns, 60–130 km away (EU)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How: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Polish job boards and Meta; a Polish-speaking freelancer phones each applicant (15 min)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Why better: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~2,000 Polish trade workers already commute to Brandenburg; the call checks language before using our slots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Maths: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346 apps × €18.75 + €400 → 48 qualified × 37% = 18.0 hires (40% of mech, cap 40%)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2-week test: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Tue 27 Oct – Mon 9 Nov (freelancer starts 27 Oct): €2.5k. Pass: ≥9 qualified at ≤€200. Kill: &lt;5, &gt;€270 per qualified, or too few pass the language call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chemeClr val="accent6"/>
                </a:solidFill>
              </a:rPr>
              <a:t>Who does what: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Me: ads, freelancer, call script. Client: approve the Polish ads</a:t>
            </a:r>
            <a:endParaRPr lang="en-US" sz="1200" dirty="0"/>
          </a:p>
        </p:txBody>
      </p:sp>
      <p:sp>
        <p:nvSpPr>
          <p:cNvPr id="16" name="Text 11"/>
          <p:cNvSpPr txBox="1"/>
          <p:nvPr/>
        </p:nvSpPr>
        <p:spPr>
          <a:xfrm>
            <a:off x="457200" y="5349240"/>
            <a:ext cx="112745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Repeatable Joveo product: ATS rediscovery. </a:t>
            </a:r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Every employer may keep consenting runners-up for up to a year, and they are rarely re-marketed to. Here 211 records cost ~€14 per hire and fill week-1 slots before paid channels warm up. Joveo already matches jobs to supply programmatically. Adding a consented rediscovery source, tracked to hire with the same source tags, is repeatable in any market without local staff.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457200" y="731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 4 · RUN IT WEEK BY WEEK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Track by source × role weekly, move money on rules, test the riskiest assumptions early</a:t>
            </a:r>
            <a:endParaRPr lang="en-US" sz="2200" dirty="0"/>
          </a:p>
        </p:txBody>
      </p:sp>
      <p:sp>
        <p:nvSpPr>
          <p:cNvPr id="4" name="quad0"/>
          <p:cNvSpPr/>
          <p:nvPr/>
        </p:nvSpPr>
        <p:spPr>
          <a:xfrm>
            <a:off x="457200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31673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Track (every Monday)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594360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Spend, clicks, applications, qualified, assessed, interviewed, passed, offers and signed, by source × role. Data: Joveo platform (tracked URLs), Monday ATS export with the utm source in the source field, recruiter disposition codes, pre-screener sheet. Tracker tab → decisions + hire forecast.</a:t>
            </a:r>
            <a:endParaRPr lang="en-US" sz="1250" dirty="0"/>
          </a:p>
        </p:txBody>
      </p:sp>
      <p:sp>
        <p:nvSpPr>
          <p:cNvPr id="8" name="quad1"/>
          <p:cNvSpPr/>
          <p:nvPr/>
        </p:nvSpPr>
        <p:spPr>
          <a:xfrm>
            <a:off x="6144768" y="118872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1928" y="1316736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647688" y="128016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Money rules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281928" y="169164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Judge a channel only after €500 or 30 applications. Early results are blended with the plan so one week doesn't swing decisions. 20% cheaper than plan with free slots → +25% a week from the reserve; 50% dearer → halve it; twice the cost → switch off. A spent test with no qualified applicants → off. Next week over 55 qualified → pause the dearest channels; under 50 → release reserve.</a:t>
            </a:r>
            <a:endParaRPr lang="en-US" sz="1250" dirty="0"/>
          </a:p>
        </p:txBody>
      </p:sp>
      <p:sp>
        <p:nvSpPr>
          <p:cNvPr id="12" name="quad2"/>
          <p:cNvSpPr/>
          <p:nvPr/>
        </p:nvSpPr>
        <p:spPr>
          <a:xfrm>
            <a:off x="457200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22776"/>
            <a:ext cx="274320" cy="27432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60120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Checks: Mon 2 Nov, confirmed 9 Nov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594360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1) Week-1 pass rate: if below plan after 10 interviews → sharper screening questions, pre-screen calls, ask for more slots (10% lower pass ≈ 92 hires). 2) Construction-electrician decision and its 9 Nov read; if stopped, programmatic fills the gap (budget €127.5k). 3) Re-rank channels on the tests' real costs. Week 4: acceptance below plan after 5 offers → earlier cut-off + signing bonus.</a:t>
            </a:r>
            <a:endParaRPr lang="en-US" sz="1250" dirty="0"/>
          </a:p>
        </p:txBody>
      </p:sp>
      <p:sp>
        <p:nvSpPr>
          <p:cNvPr id="16" name="quad3"/>
          <p:cNvSpPr/>
          <p:nvPr/>
        </p:nvSpPr>
        <p:spPr>
          <a:xfrm>
            <a:off x="6144768" y="3794760"/>
            <a:ext cx="5586984" cy="2468880"/>
          </a:xfrm>
          <a:prstGeom prst="roundRect">
            <a:avLst>
              <a:gd name="adj" fmla="val 29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1928" y="3922776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647688" y="3886200"/>
            <a:ext cx="4937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First five things in week 1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6281928" y="4297680"/>
            <a:ext cx="53126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1) Tue 20 Oct 09:00 CEST (12:30 IST): kick-off; lock slots, steps, 18 Dec date, bonus, EGT decision, utm tags; request ATS export. 2) Tue–Wed: launch planned cells and tests with tracked URLs + knock-outs. 3) Wed 21 Oct: rediscovery wave 1 + referral launch. 4) Wed–Fri: Polish ads, freelancer contracted; I2 live by Fri 23 Oct. 5) Mon 26 Oct: first read-out, line up the 2 Nov decisions.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73952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eration Uptime">
  <a:themeElements>
    <a:clrScheme name="Operation Uptime">
      <a:dk1>
        <a:srgbClr val="1C2833"/>
      </a:dk1>
      <a:lt1>
        <a:srgbClr val="FFFFFF"/>
      </a:lt1>
      <a:dk2>
        <a:srgbClr val="3D4F5F"/>
      </a:dk2>
      <a:lt2>
        <a:srgbClr val="EEF2F5"/>
      </a:lt2>
      <a:accent1>
        <a:srgbClr val="E8A317"/>
      </a:accent1>
      <a:accent2>
        <a:srgbClr val="1F8A70"/>
      </a:accent2>
      <a:accent3>
        <a:srgbClr val="B5452F"/>
      </a:accent3>
      <a:accent4>
        <a:srgbClr val="5D6D7E"/>
      </a:accent4>
      <a:accent5>
        <a:srgbClr val="D6DEE5"/>
      </a:accent5>
      <a:accent6>
        <a:srgbClr val="264653"/>
      </a:accent6>
      <a:hlink>
        <a:srgbClr val="1F6FB2"/>
      </a:hlink>
      <a:folHlink>
        <a:srgbClr val="6B4E9B"/>
      </a:folHlink>
    </a:clrScheme>
    <a:fontScheme name="Operation Upti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Operation Uptime</dc:title>
  <dc:subject>PptxGenJS Presentation</dc:subject>
  <dc:creator>PptxGenJS</dc:creator>
  <cp:lastModifiedBy>PptxGenJS</cp:lastModifiedBy>
  <cp:revision>1</cp:revision>
  <dcterms:created xsi:type="dcterms:W3CDTF">2026-10-09T10:26:29Z</dcterms:created>
  <dcterms:modified xsi:type="dcterms:W3CDTF">2026-10-09T10:26:29Z</dcterms:modified>
</cp:coreProperties>
</file>