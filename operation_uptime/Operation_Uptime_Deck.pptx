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34e3d4d6-382c-2112-dee6-102c002a5318}">
          <p14:sldIdLst>
            <p14:sldId id="256"/>
          </p14:sldIdLst>
        </p14:section>
        <p14:section name="Part 1 Funnel" id="{1b367d1c-0d9c-3661-8ed2-da8ef135f59e}">
          <p14:sldIdLst>
            <p14:sldId id="257"/>
            <p14:sldId id="258"/>
          </p14:sldIdLst>
        </p14:section>
        <p14:section name="Part 2 Channels &amp; budget" id="{12da56cf-c95b-99f4-5bea-96714e13c0a9}">
          <p14:sldIdLst>
            <p14:sldId id="259"/>
            <p14:sldId id="260"/>
            <p14:sldId id="261"/>
          </p14:sldIdLst>
        </p14:section>
        <p14:section name="Part 3 New sources" id="{22bdfa45-d8bd-040e-e47e-c8e09ce35735}">
          <p14:sldIdLst>
            <p14:sldId id="262"/>
          </p14:sldIdLst>
        </p14:section>
        <p14:section name="Part 4 Run it" id="{e96adb5c-42ec-77f4-21a5-09c411540a5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21494</c:v>
                </c:pt>
                <c:pt idx="1">
                  <c:v>10800</c:v>
                </c:pt>
                <c:pt idx="2">
                  <c:v>13258</c:v>
                </c:pt>
                <c:pt idx="3">
                  <c:v>13992</c:v>
                </c:pt>
                <c:pt idx="4">
                  <c:v>13524</c:v>
                </c:pt>
                <c:pt idx="5">
                  <c:v>1814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3119</c:v>
                </c:pt>
                <c:pt idx="4">
                  <c:v>1728</c:v>
                </c:pt>
                <c:pt idx="5">
                  <c:v>1769</c:v>
                </c:pt>
                <c:pt idx="6">
                  <c:v>1899</c:v>
                </c:pt>
                <c:pt idx="7">
                  <c:v>2158</c:v>
                </c:pt>
                <c:pt idx="8">
                  <c:v>305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(€122.5k)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(€85.75k)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20.5</c:v>
                </c:pt>
                <c:pt idx="1">
                  <c:v>44</c:v>
                </c:pt>
                <c:pt idx="2">
                  <c:v>14.5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€102.3k plan + €20.2k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€1,023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(€1,225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 If assessments can't start 22 Oct: ~92 hires (100 then needs 60 a week).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 German process pace (8 + 12 days) or 7-day offers: ~92 hires each; +9 slots a week restores 100.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+ bridge-course trainer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1,495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1,495,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money, not hires: a 30% lower share qualified needs a €185k budget on a full re-run (cheap channels hit their caps); dearer clicks +30% media.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85800"/>
                <a:gridCol w="2834640"/>
                <a:gridCol w="868680"/>
                <a:gridCol w="9601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€35.7k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€3,442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9326880" y="1188720"/>
            <a:ext cx="2404872" cy="4846320"/>
          </a:xfrm>
          <a:prstGeom prst="roundRect">
            <a:avLst>
              <a:gd name="adj" fmla="val 3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64040" y="1325880"/>
            <a:ext cx="21488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€ / qualified and € / hire here include set-up costs (Budget tab). Media-only figures per channel × role: Channels tab (col O, col P, rank col AC).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€102.3k planned across roles and weeks, plus a €20.2k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€20.2k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(€85.75k)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€122.5k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€85.75k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20.5 of 30, supervisors 8.1 of 10, mechatronics 44.0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€36.75k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~211 past runners-up from the last 12 months (my estimate; the real export replaces it on day 1)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application. If the export is empty: €135k; if referrals deliver half: €130k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≥14 qualified. Kill: &lt;8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more than doubles the hardest pool (10,000 vs 4,800)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€5.6k. Pass: ≥7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Oct; one client trainer runs the 2–4 week bridge course for the ~8 hires (≈15 person-days, client-funded onboarding)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~1,700 Polish machine, metal and building workers already commute to Brandenburg (IAB 2020); the call checks language before using our slots. If response is only I2's rate (~219 applications): €132.5k; if it fails: €155k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€3.2k. Pass: ≥12 qualified at ≤€200. Kill: &lt;7,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German-market ads exclude Poland, so Polish hires come only through this route (40% cap).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Employers that keep consented past applicants rarely run campaigns to them. Here ~211 records (my estimate) cost ~€14 per hire and fill week-1 slots. Joveo already runs the tracked links and distribution, and its Talent CRM re-engages past applicants, so a consented past-applicant feed becomes one more tracked source,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 and country of residence, so every Polish hire counts toward the 40% cap)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electricians' share qualified (25%, I2Q): read 9 Nov; if far below, stop and let programmatic fill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2026-10-09T17:14:11Z</dcterms:created>
  <dcterms:modified xsi:type="dcterms:W3CDTF">2026-10-09T17:14:11Z</dcterms:modified>
</cp:coreProperties>
</file>