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908ceaaa-0a8a-7316-77ef-81e8ab90c16b}">
          <p14:sldIdLst>
            <p14:sldId id="256"/>
          </p14:sldIdLst>
        </p14:section>
        <p14:section name="Part 1 Funnel" id="{390e3f9f-e498-3d58-12ba-1ce986b60c9b}">
          <p14:sldIdLst>
            <p14:sldId id="257"/>
            <p14:sldId id="258"/>
          </p14:sldIdLst>
        </p14:section>
        <p14:section name="Part 2 Channels &amp; budget" id="{b9c47897-2869-02ee-82ad-cf1f74d10f8a}">
          <p14:sldIdLst>
            <p14:sldId id="259"/>
            <p14:sldId id="260"/>
            <p14:sldId id="261"/>
          </p14:sldIdLst>
        </p14:section>
        <p14:section name="Part 3 New sources" id="{5a30b7f8-8568-0332-c2de-1146fcde999e}">
          <p14:sldIdLst>
            <p14:sldId id="262"/>
          </p14:sldIdLst>
        </p14:section>
        <p14:section name="Part 4 Run it" id="{0bba412e-8fd9-357b-0619-3a4db2e3bb2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19549</c:v>
                </c:pt>
                <c:pt idx="1">
                  <c:v>11334</c:v>
                </c:pt>
                <c:pt idx="2">
                  <c:v>14055</c:v>
                </c:pt>
                <c:pt idx="3">
                  <c:v>14438</c:v>
                </c:pt>
                <c:pt idx="4">
                  <c:v>13941</c:v>
                </c:pt>
                <c:pt idx="5">
                  <c:v>1566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2467</c:v>
                </c:pt>
                <c:pt idx="4">
                  <c:v>1782</c:v>
                </c:pt>
                <c:pt idx="5">
                  <c:v>1980</c:v>
                </c:pt>
                <c:pt idx="6">
                  <c:v>2078</c:v>
                </c:pt>
                <c:pt idx="7">
                  <c:v>2381</c:v>
                </c:pt>
                <c:pt idx="8">
                  <c:v>290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(€122.5k)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(€85.75k)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20.5</c:v>
                </c:pt>
                <c:pt idx="1">
                  <c:v>44</c:v>
                </c:pt>
                <c:pt idx="2">
                  <c:v>14.5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€102.3k plan + €20.2k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€1,023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(€1,225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 If assessments can't start 22 Oct: ~92 hires (100 then needs 60 a week).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1,495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1,495,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money, not hires: a 30% lower share qualified needs a €185k budget on a full re-run (cheap channels hit their caps); dearer clicks +30% media.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85800"/>
                <a:gridCol w="2834640"/>
                <a:gridCol w="868680"/>
                <a:gridCol w="9601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€35.7k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€3,442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9326880" y="1188720"/>
            <a:ext cx="2404872" cy="4846320"/>
          </a:xfrm>
          <a:prstGeom prst="roundRect">
            <a:avLst>
              <a:gd name="adj" fmla="val 3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64040" y="1325880"/>
            <a:ext cx="21488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Per channel × role: Channels tab (cost per qualified col O, per hire col P, rank col AC).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€102.3k planned across roles and weeks, plus a €20.2k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€20.2k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(€85.75k)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€122.5k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€85.75k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20.5 of 30, supervisors 8.1 of 10, mechatronics 44.0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€36.75k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~211 past runners-up from the last 12 months (my estimate; the real export replaces it on day 1)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≥13 qualified. Kill: &lt;7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more than doubles the hardest pool (10,000 vs 4,800)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€4.8k. Pass: ≥6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Oct, bridge course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~1,700 Polish machine, metal and building workers already commute to Brandenburg (IAB 2020); the call checks language before using our slots. If response is only I2's rate (~219 applications): €132.5k; if it fails: €155k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€2.5k. Pass: ≥9 qualified at ≤€200. Kill: &lt;5,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Employers that keep consented past applicants rarely run campaigns to them. Here ~211 records (my estimate) cost ~€14 per hire and fill week-1 slots. Joveo already runs the tracked links and distribution, and its Talent CRM re-engages past applicants, so a consented past-applicant feed becomes one more tracked source,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2026-10-09T15:19:58Z</dcterms:created>
  <dcterms:modified xsi:type="dcterms:W3CDTF">2026-10-09T15:19:58Z</dcterms:modified>
</cp:coreProperties>
</file>