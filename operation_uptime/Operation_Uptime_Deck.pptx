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8d100aba-e385-f549-818e-6e2d0299c9af}">
          <p14:sldIdLst>
            <p14:sldId id="256"/>
          </p14:sldIdLst>
        </p14:section>
        <p14:section name="Part 1 Funnel" id="{87c93c7d-7386-c193-7162-9c14a107c7ab}">
          <p14:sldIdLst>
            <p14:sldId id="257"/>
            <p14:sldId id="258"/>
          </p14:sldIdLst>
        </p14:section>
        <p14:section name="Part 2 Channels &amp; budget" id="{44577dcc-176e-a789-dcd5-569f81d93bdd}">
          <p14:sldIdLst>
            <p14:sldId id="259"/>
            <p14:sldId id="260"/>
            <p14:sldId id="261"/>
          </p14:sldIdLst>
        </p14:section>
        <p14:section name="Part 3 New sources" id="{0c52266a-6c87-43fb-af32-2559c2b90b6e}">
          <p14:sldIdLst>
            <p14:sldId id="262"/>
          </p14:sldIdLst>
        </p14:section>
        <p14:section name="Part 4 Run it" id="{a4ee0300-3ae6-7b6d-70dc-10f406e70e63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53</c:v>
                </c:pt>
                <c:pt idx="3">
                  <c:v>51</c:v>
                </c:pt>
                <c:pt idx="4">
                  <c:v>51</c:v>
                </c:pt>
                <c:pt idx="5">
                  <c:v>43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78</c:v>
                </c:pt>
                <c:pt idx="2">
                  <c:v>78</c:v>
                </c:pt>
                <c:pt idx="3">
                  <c:v>100</c:v>
                </c:pt>
                <c:pt idx="4">
                  <c:v>100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810</c:v>
                </c:pt>
                <c:pt idx="1">
                  <c:v>1287</c:v>
                </c:pt>
                <c:pt idx="2">
                  <c:v>4674</c:v>
                </c:pt>
                <c:pt idx="3">
                  <c:v>5504</c:v>
                </c:pt>
                <c:pt idx="4">
                  <c:v>5504</c:v>
                </c:pt>
                <c:pt idx="5">
                  <c:v>4298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3049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125</c:v>
                </c:pt>
                <c:pt idx="4">
                  <c:v>226</c:v>
                </c:pt>
                <c:pt idx="5">
                  <c:v>862</c:v>
                </c:pt>
                <c:pt idx="6">
                  <c:v>1116</c:v>
                </c:pt>
                <c:pt idx="7">
                  <c:v>1140</c:v>
                </c:pt>
                <c:pt idx="8">
                  <c:v>1140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23.1</c:v>
                </c:pt>
                <c:pt idx="3">
                  <c:v>12.7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9.5</c:v>
                </c:pt>
                <c:pt idx="2">
                  <c:v>8.1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€38.7k planned + €8.8k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(≤€475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322 assessment slots used (291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(20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~60% we sign all 100, ~85% at least 90 (my judgement). If pass or acceptance rates are 30% worse, ~78.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(€33.25k): ~91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457200"/>
                <a:gridCol w="566928"/>
                <a:gridCol w="530352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11.6 · rediscovery 4.4 · referrals 4.2 · organic 3.9 · Google Search 3.9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14.6 · Polish corridor 13.8 · rediscovery 8.4 · tests 8.2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2.4 · organic 2.3 · tests 1.6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5.4 · rediscovery 1.5 · organic 1.3 · Google Search 1.0 · tests 0.5 · other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€8.8k reserve = €47.5k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(~€20/hire) → Polish corridor (≤40% of mechatronics) → construction-electrician campaign → LinkedIn, Search, referrals, 1 StepStone ad. Pace ≤55 qualified a week; paid spend stops 27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90% used. Pre-screened sources first, pace ≤55/wk, ask +10–15 slots (65/wk → 76%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~12 of 30 need your OK on construction electricians by 23 Oct; else Meta, StepStone, programmatic at €1,000–1,500/hire.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27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€47.5k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~291 qualified applicants for 322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own estimates, each reasoned on the Assumptions tab. Few applicants qualify (brief), and foreign-trained electricians can't be recognised in time (2–4 months, §6 BQFG). About half fail a practical test.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291 qualified / 1,611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4 days, → interview 7, → offer 3, → signature 7; supervisors +7. Last realistic signature Fri 18 Dec, so applications must arrive by Fri 27 Nov (E/M/A) and Fri 20 Nov (supervisors). Slots = 55 × 41 days ÷ 7 = 322.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51–55 of 55; week 6: 43; week 7 is Tue 1 Dec only (last assessment day, 8 slots). Rediscovery re-applicants (waves 21 Oct, 26 Oct and 2 Nov) and the €750 tests fill weeks 1–2, so regular spend starts at 3% and 5%, then 20–24%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~22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415 qualified for 322 slots (129%). The 43% more media that would need can't help: slots cap hires at ~78.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€23 · 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€18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€25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€27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 / €221 · 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€360 / €1,119 · 0.7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€100 / €247 · 3.0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€476 / €1,480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€109 / €269 · 2.8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€375 / €1,282 · 0.6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€425 / €1,587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€651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€126 / €310 · 2.4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€716 · 1.0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€262 / €978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€175 / €598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€219 / €817 · 5.4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€200 / €881 · 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€370 / €1,000 · 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€308 / €1,000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€1,001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€409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€1,321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€1,443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StepStone's single ad works out at €1,583 per hire: costed whole,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Researched: StepStone €1,449/30-day ad (instaffo.com) · Pracuj.pl ~1,499 PLN/ad, indicative (dlafirm.pracuj.pl) · Indeed CPC $0.10–5+ (pin.com) · LinkedIn CPC $4–8 (peoplebox.ai) · Appcast apply rate 6.1% (2025 benchmark). Other sources (§6 BQFG, BA Engpassanalyse, WSI, plant headcount) and every own estimate are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€38.7k planned across roles and weeks, plus €8.8k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€20.4k paid channels (incl. €9.0k tests) + €16.7k initiative media, pre-screen calls and bonuses + €1.6k set-up = €38.7k. Reserve: 15% of €45.6k plus rounding = €8.8k.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€14.1k (30%), mostly tests. Duds are cut from Mon 2 Nov (after €500 / 30 apps); tests and the full re-allocation are judged by Mon 9 Nov; the reserve moves only from week 3. Paid media stops after 27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(€33.25k) still signs ~91,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€47.50k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€40.38k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€33.25k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€23.75k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−30%), then supervisors (8 of 10); automation slips to 14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€14.25k buys ~9 hires at ~€1,530 each, mostly electricians, the role that keeps lines running. Keep it. If you must cut, cover supervisors through internal promotion and protect electricians. Above €47.5k, extra money buys at most ~11 more hires (the 31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~47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qualified), already wanted Tesla, €4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€350 + €4.6k bonuses → 84 re-apps + 28 referrals → ~55 qualified → ~21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€350. Pass: ≥19 qualified (≥⅓ electricians). Kill: &lt;10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~12,000 construction electricians (Elektroniker EGT)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300 apps × €30 = €9.0k + €1.2k set-up → 45 qualified × 26% = 11.6 hires (€881/hire)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€2.6k. Pass: ≥4 qualified at ≤€250. Kill: &lt;3, &gt;€300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141 apps × €19.50 + €400 → 31 qualified × 45% = 13.8 hires (31%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€1.1k. Pass: ≥4 qualified at ≤€110. Kill: &lt;3, &gt;€130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~€20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Meta, StepStone (up to 2 more ads), programmatic; expect ~25–27 electricians (my judgement: capacity allows 30, but slower and at €1,000–1,500 per hire).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2026-10-08T19:22:47Z</dcterms:created>
  <dcterms:modified xsi:type="dcterms:W3CDTF">2026-10-08T19:22:47Z</dcterms:modified>
</cp:coreProperties>
</file>