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2bdee562-aee5-03b5-c7ad-e010321f31a4}">
          <p14:sldIdLst>
            <p14:sldId id="256"/>
          </p14:sldIdLst>
        </p14:section>
        <p14:section name="Part 1 Funnel" id="{b035a81c-5815-6f5a-0b24-58eb45efaff1}">
          <p14:sldIdLst>
            <p14:sldId id="257"/>
            <p14:sldId id="258"/>
          </p14:sldIdLst>
        </p14:section>
        <p14:section name="Part 2 Channels &amp; budget" id="{5f707b24-326e-ad07-33c7-7985bb7b13ec}">
          <p14:sldIdLst>
            <p14:sldId id="259"/>
            <p14:sldId id="260"/>
            <p14:sldId id="261"/>
          </p14:sldIdLst>
        </p14:section>
        <p14:section name="Part 3 New sources" id="{8711c40d-43b5-81fe-9f67-08f022f71fc8}">
          <p14:sldIdLst>
            <p14:sldId id="262"/>
          </p14:sldIdLst>
        </p14:section>
        <p14:section name="Part 4 Run it" id="{e0a91142-f22a-f722-a4c5-f92bd1ad51f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</c:v>
                </c:pt>
                <c:pt idx="1">
                  <c:v>54</c:v>
                </c:pt>
                <c:pt idx="2">
                  <c:v>54</c:v>
                </c:pt>
                <c:pt idx="3">
                  <c:v>55</c:v>
                </c:pt>
                <c:pt idx="4">
                  <c:v>55</c:v>
                </c:pt>
                <c:pt idx="5">
                  <c:v>53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15555</c:v>
                </c:pt>
                <c:pt idx="1">
                  <c:v>24084</c:v>
                </c:pt>
                <c:pt idx="2">
                  <c:v>27182</c:v>
                </c:pt>
                <c:pt idx="3">
                  <c:v>27954</c:v>
                </c:pt>
                <c:pt idx="4">
                  <c:v>27954</c:v>
                </c:pt>
                <c:pt idx="5">
                  <c:v>22961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10294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1049</c:v>
                </c:pt>
                <c:pt idx="4">
                  <c:v>1720</c:v>
                </c:pt>
                <c:pt idx="5">
                  <c:v>1981</c:v>
                </c:pt>
                <c:pt idx="6">
                  <c:v>2052</c:v>
                </c:pt>
                <c:pt idx="7">
                  <c:v>2057</c:v>
                </c:pt>
                <c:pt idx="8">
                  <c:v>2371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€207.50k</c:v>
                  </c:pt>
                  <c:pt idx="1">
                    <c:v>85% · €176.38k</c:v>
                  </c:pt>
                  <c:pt idx="2">
                    <c:v>70% · €145.25k</c:v>
                  </c:pt>
                  <c:pt idx="3">
                    <c:v>50% · €103.75k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29.9</c:v>
                </c:pt>
                <c:pt idx="2">
                  <c:v>27.1</c:v>
                </c:pt>
                <c:pt idx="3">
                  <c:v>17.2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€207.50k</c:v>
                  </c:pt>
                  <c:pt idx="1">
                    <c:v>85% · €176.38k</c:v>
                  </c:pt>
                  <c:pt idx="2">
                    <c:v>70% · €145.25k</c:v>
                  </c:pt>
                  <c:pt idx="3">
                    <c:v>50% · €103.75k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€207.50k</c:v>
                  </c:pt>
                  <c:pt idx="1">
                    <c:v>85% · €176.38k</c:v>
                  </c:pt>
                  <c:pt idx="2">
                    <c:v>70% · €145.25k</c:v>
                  </c:pt>
                  <c:pt idx="3">
                    <c:v>50% · €103.75k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14.9</c:v>
                </c:pt>
                <c:pt idx="2">
                  <c:v>14.3</c:v>
                </c:pt>
                <c:pt idx="3">
                  <c:v>14.3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€207.50k</c:v>
                  </c:pt>
                  <c:pt idx="1">
                    <c:v>85% · €176.38k</c:v>
                  </c:pt>
                  <c:pt idx="2">
                    <c:v>70% · €145.25k</c:v>
                  </c:pt>
                  <c:pt idx="3">
                    <c:v>50% · €103.75k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4.6</c:v>
                </c:pt>
                <c:pt idx="2">
                  <c:v>1.6</c:v>
                </c:pt>
                <c:pt idx="3">
                  <c:v>1.6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€207.5k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€207.5k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€176.2k planned + €31.3k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€1,762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(≤€2,075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314 assessment slots used (309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(17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100 if the funnel rates hold, with slots 98% used. Pass rates 10% worse: ~92 hires (slots run out); 30% worse: ~71.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(€145.25k): ~88 hires; supervisors fall short first (1.6 of 10).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896112"/>
                <a:gridCol w="457200"/>
                <a:gridCol w="640080"/>
                <a:gridCol w="603504"/>
                <a:gridCol w="151790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€70.7k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9.5 · Handwerk→Industrie 8.5 · organic 3.5 · referrals 3.3 · programmatic 3.2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€33.9k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Polish corridor 18.0 · organic 9.2 · Meta 8.2 · referrals 5.8 · StepStone 1.8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€32.4k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10.0 · organic 1.6 · referrals 1.5 · StepStone 0.9 · programmatic 0.5 · other 0.5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€39.3k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€3,930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8.3 · referrals 0.7 · organic 0.6 · rediscovery 0.2 · tests 0.2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€176.2k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€1,762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€31.3k reserve = €207.5k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→ Polish corridor (≤40% of mechatronics) → referrals → construction-electrician campaign → StepStone → Meta → LinkedIn → programmatic. Pace ≤55 qualified a week; paid spend stops Tue 24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98% used. Pre-screened sources first, pace ≤55/wk, ask +10–15 slots (65/wk → 81%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~9 of 30 need your OK on construction electricians by 23 Oct; without them programmatic ads fill the gap and the budget rises to €225.0k.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Tue 24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€207.5k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~309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635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1,959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Sourced where data exists (IAB: 28% of applications suitable; Gem interview-pass and Königsteiner/StepStone offer-acceptance data), own estimates otherwise; each labelled on the Assumptions tab. Few applicants qualify (brief), and foreign-trained electricians can't be recognised in time (2–4 months, §6 BQFG).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309 qualified / 2,413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6 days, → interview 8, → offer 3, → signature 7 (first two: SmartRecruiters DE benchmark); supervisors +7. Last realistic signature Fri 18 Dec, so applications must arrive by Tue 24 Nov (E/M/A) and Tue 17 Nov (supervisors). Slots = 55 × 40 days ÷ 7 = 314.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38 of 39 slots; weeks 2–5: 54–55 of 55; week 6: 53; assessments end Mon 30 Nov. Rediscovery re-applicants (waves 21 Oct, 26 Oct and 2 Nov) and the €750 tests fill weeks 1–2, so regular spend ramps 10%, 16%, 18%, then 18–21%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3.4×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scarcest trade in Brandenburg (KOFA 2026: 85.7% of vacancies have no suitable unemployed candidate, vs 41.4% across all occupations) and the largest scarce block (30), so they take 40% of the money. No Polish route and no foreign-trained route by 31 Dec. Supervisors cost more per hire and automation has thinner coverage, but they are 10 and 15 hires with fallbacks (internal promotion, foreign-trained).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441 qualified for 314 slots (140%). The 43% more media that would need can't help: slots cap hires at ~71.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~4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9.2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€14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€12 · 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€15 · 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€18 · 0.2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€134 / €383 · 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€362 / €1,000 · 3.3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€1,000 · 5.8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€326 / €1,000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€274 / €1,000 · 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€894 / €2,840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€610 / €1,643 · 1.8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€894 / €3,155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€1,342 / €5,637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€1,120 / €3,556 · 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€764 / €2,057 · 8.2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€560 / €2,116 · 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€1,193 / €3,786 · 3.2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€813 / €2,190 · 0.3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€1,193 / €4,207 · 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€1,789 / €7,516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€711 / €2,508 · 10.0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€1,067 / €4,482 · 8.3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€1,681 / €5,336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€1,146 / €3,087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€1,681 / €5,929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€2,521 / €10,593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 ads (6 × €1,449) are costed whole and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Sourced: cost per application, DACH medians: Indeed €161, Google €179, LinkedIn €96, Meta €84 (TalentBait 2024–26) · StepStone €1,449/ad, 12 applications per ad · share qualified: IAB 2026 (28%), channel index from IAB 2025 (job boards 0.90, careers page 0.71, social 0.50) · volume caps: channel reach (Trendence 2023: Indeed 36%, LinkedIn 15%) × in-market pool (BA 2025, Gallup 11%) · Meta volumes: Redline 2024–26. Every input's source or derivation is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€176.2k planned across roles and weeks, plus €31.3k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€140.1k paid channels (incl. €9.0k tests) + €34.6k initiative media, pre-screen calls and bonuses + €1.6k set-up = €176.2k. Reserve: 15% of €207.3k plus rounding = €31.3k.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€58.9k (28%), mostly tests. Duds are cut from Mon 2 Nov (after €500 / 30 apps); tests and the full re-allocation are judged by Mon 9 Nov; the reserve moves only from week 3. Paid media stops after Tue 24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€70.7k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€2,356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€33.9k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€752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€32.4k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€3,930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€176.2k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€1,762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€15.9k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€3,799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€8.7k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€2,348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€62.0k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€3,404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€50.4k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17.6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€2,861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€5,165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€11.2k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€18.0k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€2,116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(€145.25k) still signs ~88; supervisors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€207.50k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€2,075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€176.38k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€1,869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€145.25k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€103.75k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 −30%: supervisors 1.6 of 10, electricians 27.1 of 30, automation 14.3 of 15.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€62.25k buys ~12 hires at ~€5,190 each, mostly supervisors. If you must cut, cover supervisors through internal promotion and protect electricians, the role that keeps lines running. Above €207.5k, extra money buys at most ~2 more hires (the 6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~41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136 runners-up from the last year (consented talent pool); the plant's 10,703 staff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still qualified, below the 70% skills match Forrester reports), already wanted Tesla,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€41 + €11.2k bonuses → 16 re-apps + 66 referrals → ~38 qualified → ~14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€41. Pass: ≥8 qualified (≥⅓ electricians). Kill: &lt;5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(Elektroniker EGT, BA KldB 2621)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200 apps × €84 = €16.8k + €1.2k set-up → 30 qualified × 28% = 8.5 hires (€2,116/hire)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€6.0k. Pass: ≥5 qualified at ≤€700. Kill: &lt;3, &gt;€840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(15 min, low end of Indeed’s 15–30 min range)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 is Poland's largest job board (762,827 offers in 2025); ~2,000 Polish trade workers already commute to Brandenburg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€2.5k. Pass: ≥9 qualified at ≤€170. Kill: &lt;5, &gt;€200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employer may keep consenting runners-up for up to a year, and they are rarely re-marketed to. Here 136 records cost ~€13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≥3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programmatic picks up the gap: all 30 still possible (model run with I2 off), budget €225.0k, electricians at €2,829 per hire.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2026-10-09T06:41:33Z</dcterms:created>
  <dcterms:modified xsi:type="dcterms:W3CDTF">2026-10-09T06:41:33Z</dcterms:modified>
</cp:coreProperties>
</file>