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721e932a-412a-64ed-e806-259a84ca346e}">
          <p14:sldIdLst>
            <p14:sldId id="256"/>
          </p14:sldIdLst>
        </p14:section>
        <p14:section name="Part 1 Funnel" id="{16fd1b44-ffb8-f6b3-3c98-7ffe0ecf6f9a}">
          <p14:sldIdLst>
            <p14:sldId id="257"/>
            <p14:sldId id="258"/>
          </p14:sldIdLst>
        </p14:section>
        <p14:section name="Part 2 Channels &amp; budget" id="{140cfb64-67fc-6076-8995-23a21a488071}">
          <p14:sldIdLst>
            <p14:sldId id="259"/>
            <p14:sldId id="260"/>
            <p14:sldId id="261"/>
          </p14:sldIdLst>
        </p14:section>
        <p14:section name="Part 3 New sources" id="{0c29ad4d-a1b7-52ca-a0d6-08cfc4ba8f23}">
          <p14:sldIdLst>
            <p14:sldId id="262"/>
          </p14:sldIdLst>
        </p14:section>
        <p14:section name="Part 4 Run it" id="{c0fb1c71-4454-d0e3-25b0-a9c616b3304f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Qualified applicants vs the 55/week limit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Qualified arriving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</c:v>
                </c:pt>
                <c:pt idx="1">
                  <c:v>55</c:v>
                </c:pt>
                <c:pt idx="2">
                  <c:v>53</c:v>
                </c:pt>
                <c:pt idx="3">
                  <c:v>51</c:v>
                </c:pt>
                <c:pt idx="4">
                  <c:v>51</c:v>
                </c:pt>
                <c:pt idx="5">
                  <c:v>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Assessment slots</c:v>
                </c:pt>
              </c:strCache>
            </c:strRef>
          </c:tx>
          <c:spPr>
            <a:solidFill>
              <a:srgbClr val="D6DE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39</c:v>
                </c:pt>
                <c:pt idx="1">
                  <c:v>55</c:v>
                </c:pt>
                <c:pt idx="2">
                  <c:v>55</c:v>
                </c:pt>
                <c:pt idx="3">
                  <c:v>55</c:v>
                </c:pt>
                <c:pt idx="4">
                  <c:v>55</c:v>
                </c:pt>
                <c:pt idx="5">
                  <c:v>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possible by 31 Dec if one input is 30% worse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Hires possible by 31 Dec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 case</c:v>
                  </c:pt>
                  <c:pt idx="1">
                    <c:v>Pass rate ×0.7</c:v>
                  </c:pt>
                  <c:pt idx="2">
                    <c:v>Acceptance ×0.7</c:v>
                  </c:pt>
                  <c:pt idx="3">
                    <c:v>Share qualified ×0.7</c:v>
                  </c:pt>
                  <c:pt idx="4">
                    <c:v>Cost per app ×1.3</c:v>
                  </c:pt>
                  <c:pt idx="5">
                    <c:v>Capacity ×0.7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78</c:v>
                </c:pt>
                <c:pt idx="2">
                  <c:v>78</c:v>
                </c:pt>
                <c:pt idx="3">
                  <c:v>100</c:v>
                </c:pt>
                <c:pt idx="4">
                  <c:v>100</c:v>
                </c:pt>
                <c:pt idx="5">
                  <c:v>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Cash out by week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(€750 × 12 cells)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3600</c:v>
                </c:pt>
                <c:pt idx="1">
                  <c:v>5400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CPC/CPA media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810</c:v>
                </c:pt>
                <c:pt idx="1">
                  <c:v>1287</c:v>
                </c:pt>
                <c:pt idx="2">
                  <c:v>4674</c:v>
                </c:pt>
                <c:pt idx="3">
                  <c:v>5504</c:v>
                </c:pt>
                <c:pt idx="4">
                  <c:v>5504</c:v>
                </c:pt>
                <c:pt idx="5">
                  <c:v>4298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StepStone + set-up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3049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Referral bonuses (on signing)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125</c:v>
                </c:pt>
                <c:pt idx="4">
                  <c:v>226</c:v>
                </c:pt>
                <c:pt idx="5">
                  <c:v>862</c:v>
                </c:pt>
                <c:pt idx="6">
                  <c:v>1116</c:v>
                </c:pt>
                <c:pt idx="7">
                  <c:v>1140</c:v>
                </c:pt>
                <c:pt idx="8">
                  <c:v>1140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€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Expected hires by role at each budget level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Electricians</c:v>
                </c:pt>
              </c:strCache>
            </c:strRef>
          </c:tx>
          <c:spPr>
            <a:solidFill>
              <a:srgbClr val="B5452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€47.50k</c:v>
                  </c:pt>
                  <c:pt idx="1">
                    <c:v>85% · €40.38k</c:v>
                  </c:pt>
                  <c:pt idx="2">
                    <c:v>70% · €33.25k</c:v>
                  </c:pt>
                  <c:pt idx="3">
                    <c:v>50% · €23.75k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27.9</c:v>
                </c:pt>
                <c:pt idx="2">
                  <c:v>23.1</c:v>
                </c:pt>
                <c:pt idx="3">
                  <c:v>12.7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Mechatronics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€47.50k</c:v>
                  </c:pt>
                  <c:pt idx="1">
                    <c:v>85% · €40.38k</c:v>
                  </c:pt>
                  <c:pt idx="2">
                    <c:v>70% · €33.25k</c:v>
                  </c:pt>
                  <c:pt idx="3">
                    <c:v>50% · €23.75k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45</c:v>
                </c:pt>
                <c:pt idx="1">
                  <c:v>45</c:v>
                </c:pt>
                <c:pt idx="2">
                  <c:v>45</c:v>
                </c:pt>
                <c:pt idx="3">
                  <c:v>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Automation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€47.50k</c:v>
                  </c:pt>
                  <c:pt idx="1">
                    <c:v>85% · €40.38k</c:v>
                  </c:pt>
                  <c:pt idx="2">
                    <c:v>70% · €33.25k</c:v>
                  </c:pt>
                  <c:pt idx="3">
                    <c:v>50% · €23.75k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Supervisors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€47.50k</c:v>
                  </c:pt>
                  <c:pt idx="1">
                    <c:v>85% · €40.38k</c:v>
                  </c:pt>
                  <c:pt idx="2">
                    <c:v>70% · €33.25k</c:v>
                  </c:pt>
                  <c:pt idx="3">
                    <c:v>50% · €23.75k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10</c:v>
                </c:pt>
                <c:pt idx="1">
                  <c:v>9.5</c:v>
                </c:pt>
                <c:pt idx="2">
                  <c:v>8.1</c:v>
                </c:pt>
                <c:pt idx="3">
                  <c:v>8.1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one-page summary. All figures are live from the model's Summary/Budget/Funnel tabs.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Uptime · hypothetical case · all figures from Operation_Uptime_Model.xlsx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5 · SUMMARY FOR THE HEAD OF TALENT ACQUISITION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€47.5k signs 100 maintenance hires by 31 Dec if the 55 weekly assessments hold</a:t>
            </a:r>
            <a:endParaRPr lang="en-US" sz="2200" dirty="0"/>
          </a:p>
        </p:txBody>
      </p:sp>
      <p:sp>
        <p:nvSpPr>
          <p:cNvPr id="4" name="stat0"/>
          <p:cNvSpPr/>
          <p:nvPr/>
        </p:nvSpPr>
        <p:spPr>
          <a:xfrm>
            <a:off x="45720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€47.5k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recommended budget: €38.7k planned + €8.8k reserve released only on results</a:t>
            </a:r>
            <a:endParaRPr lang="en-US" sz="1000" dirty="0"/>
          </a:p>
        </p:txBody>
      </p:sp>
      <p:sp>
        <p:nvSpPr>
          <p:cNvPr id="7" name="stat1"/>
          <p:cNvSpPr/>
          <p:nvPr/>
        </p:nvSpPr>
        <p:spPr>
          <a:xfrm>
            <a:off x="233172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44144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€387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44144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media cost per hire (≤€475 if the reserve is spent); excludes Joveo fees</a:t>
            </a:r>
            <a:endParaRPr lang="en-US" sz="1000" dirty="0"/>
          </a:p>
        </p:txBody>
      </p:sp>
      <p:sp>
        <p:nvSpPr>
          <p:cNvPr id="10" name="stat2"/>
          <p:cNvSpPr/>
          <p:nvPr/>
        </p:nvSpPr>
        <p:spPr>
          <a:xfrm>
            <a:off x="45720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of 322 assessment slots used (291 qualified). Capacity, not money, is the limit</a:t>
            </a:r>
            <a:endParaRPr lang="en-US" sz="1000" dirty="0"/>
          </a:p>
        </p:txBody>
      </p:sp>
      <p:sp>
        <p:nvSpPr>
          <p:cNvPr id="13" name="stat3"/>
          <p:cNvSpPr/>
          <p:nvPr/>
        </p:nvSpPr>
        <p:spPr>
          <a:xfrm>
            <a:off x="233172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4144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 Nov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244144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last useful application (20 Nov for supervisors): signatures by Fri 18 Dec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14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How sure: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~60% we sign all 100, ~85% at least 90 (my judgement). If pass or acceptance rates are 30% worse, ~78.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With 30% less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(€33.25k): ~91 hires; electricians fall short first (23 of 30).</a:t>
            </a:r>
            <a:endParaRPr lang="en-US" sz="1100" dirty="0"/>
          </a:p>
        </p:txBody>
      </p:sp>
      <p:graphicFrame>
        <p:nvGraphicFramePr>
          <p:cNvPr id="2" name="hi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1188720"/>
          <a:ext cx="4114800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457200"/>
                <a:gridCol w="566928"/>
                <a:gridCol w="530352"/>
                <a:gridCol w="15361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 / hire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sources (hires)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Electricians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€19.9k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€664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Handwerk→Industrie 11.6 · rediscovery 4.4 · referrals 4.2 · organic 3.9 · Google Search 3.9 · other 2.1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Mechatronics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€5.5k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organic 14.6 · Polish corridor 13.8 · rediscovery 8.4 · tests 8.2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€6.7k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8.6 · rediscovery 2.4 · organic 2.3 · tests 1.6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€6.6k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5.4 · rediscovery 1.5 · organic 1.3 · Google Search 1.0 · tests 0.5 · other 0.4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€38.7k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€8.8k reserve = €47.5k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4343400" y="466344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Plan: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€750 test in every paid channel in weeks 1–2, then buy hires cheapest-first: free channels → ATS rediscovery (~€20/hire) → Polish corridor (≤40% of mechatronics) → construction-electrician campaign → LinkedIn, Search, referrals, 1 StepStone ad. Pace ≤55 qualified a week; paid spend stops 27 Nov.</a:t>
            </a:r>
            <a:endParaRPr lang="en-US" sz="1100" dirty="0"/>
          </a:p>
        </p:txBody>
      </p:sp>
      <p:sp>
        <p:nvSpPr>
          <p:cNvPr id="19" name="risks"/>
          <p:cNvSpPr/>
          <p:nvPr/>
        </p:nvSpPr>
        <p:spPr>
          <a:xfrm>
            <a:off x="8686800" y="1188720"/>
            <a:ext cx="3044952" cy="2788920"/>
          </a:xfrm>
          <a:prstGeom prst="roundRect">
            <a:avLst>
              <a:gd name="adj" fmla="val 262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298448"/>
            <a:ext cx="256032" cy="25603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144000" y="12801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Top 3 risks → response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8823960" y="1645920"/>
            <a:ext cx="2788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Capacity: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90% used. Pre-screened sources first, pace ≤55/wk, ask +10–15 slots (65/wk → 76% use).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Electrician supply: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~12 of 30 need your OK on construction electricians by 23 Oct; else Meta, StepStone, programmatic at €1,000–1,500/hire.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Christmas: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3-day offers, e-signature, 7-day offer validity, stop spend 27 Nov.</a:t>
            </a:r>
            <a:endParaRPr lang="en-US" sz="1100" dirty="0"/>
          </a:p>
        </p:txBody>
      </p:sp>
      <p:sp>
        <p:nvSpPr>
          <p:cNvPr id="23" name="asks"/>
          <p:cNvSpPr/>
          <p:nvPr/>
        </p:nvSpPr>
        <p:spPr>
          <a:xfrm>
            <a:off x="8686800" y="4114800"/>
            <a:ext cx="3044952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224528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144000" y="42062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 need from you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8778240" y="4544568"/>
            <a:ext cx="2880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55 assessments/wk 22 Oct–1 Dec (+10–15 if possible)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Day-1 ATS export (GDPR-checked) + utm source tags in ATS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€1,000 referral bonus + one staff message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Construction-electrician decision by 23 Oct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3-day offers, e-signature to 18 Dec; approve €47.5k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BUILD THE FUNNEL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 from 100 hires: ~291 qualified applicants for 322 assessment slots</a:t>
            </a:r>
            <a:endParaRPr lang="en-US" sz="2200" dirty="0"/>
          </a:p>
        </p:txBody>
      </p:sp>
      <p:graphicFrame>
        <p:nvGraphicFramePr>
          <p:cNvPr id="3" name="fu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3093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502920"/>
                <a:gridCol w="640080"/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 → qual.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passed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Passed → offer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Offer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Apps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622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41%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65%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427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373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34%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293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1,927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931920"/>
            <a:ext cx="6309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Where the rates come from.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All own estimates, each reasoned on the Assumptions tab. Few applicants qualify (brief), and foreign-trained electricians can't be recognised in time (2–4 months, §6 BQFG). About half fail a practical test. Acceptance reflects counter-offers in Engpass trades. With the channel mix, the plan needs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291 qualified / 1,611 applications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(initiatives bring better-screened people).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1663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Latest useful application.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Assessment → interview 7 days, → offer 3, → signature 7; supervisors +7. Last realistic signature Fri 18 Dec, so applications must arrive by Fri 27 Nov (E/M/A) and Fri 20 Nov (supervisors). Slots = 55 × 41 days ÷ 7 = 322.</a:t>
            </a:r>
            <a:endParaRPr lang="en-US" sz="1200" dirty="0"/>
          </a:p>
        </p:txBody>
      </p:sp>
      <p:graphicFrame>
        <p:nvGraphicFramePr>
          <p:cNvPr id="7" name="capacityChart" descr=""/>
          <p:cNvGraphicFramePr/>
          <p:nvPr/>
        </p:nvGraphicFramePr>
        <p:xfrm>
          <a:off x="7040880" y="1188720"/>
          <a:ext cx="4690872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040880" y="5120640"/>
            <a:ext cx="4690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Week 1: 39 of 39 slots; weeks 2–5: 51–55 of 55; week 6: 43. Rediscovery re-applicants (waves 21 and 26 Oct) and the €750 tests fill weeks 1–2, so regular spend starts at 3% and 5%, then 20–24% a week.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HARDEST ROLE AND SENSITIVITY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Electricians are hardest; a 30% worse pass rate costs ~22 hires that money can't buy back</a:t>
            </a:r>
            <a:endParaRPr lang="en-US" sz="2200" dirty="0"/>
          </a:p>
        </p:txBody>
      </p:sp>
      <p:graphicFrame>
        <p:nvGraphicFramePr>
          <p:cNvPr id="4" name="hard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868680"/>
                <a:gridCol w="1051560"/>
                <a:gridCol w="822960"/>
                <a:gridCol w="10972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coverage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…without I2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Share of reachable pool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Polish route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Foreign-trained by 31 Dec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1.9×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1.5×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3.2×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3.2×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≤40%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2.0×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2.0×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1.8×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1.8×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42900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Why electricians: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largest scarce block (30), and the lowest coverage once the unproven construction-electrician campaign (I2) is removed. There is no Polish route and no foreign-trained route by 31 Dec, and energy/grid, rail, aerospace and agencies all chase the same certificate. Supervisors need a bigger share of a smaller pool, but they're only 10 hires with an internal-promotion fallback.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89204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Most sensitive: qualified → signed.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30% worse pass or acceptance rates need 415 qualified for 322 slots (129%), capping hires at ~78 and lifting media 43%. Upstream misses (share qualified, cost per application) only cost money.</a:t>
            </a:r>
            <a:endParaRPr lang="en-US" sz="1200" dirty="0"/>
          </a:p>
        </p:txBody>
      </p:sp>
      <p:graphicFrame>
        <p:nvGraphicFramePr>
          <p:cNvPr id="7" name="sensChart" descr=""/>
          <p:cNvGraphicFramePr/>
          <p:nvPr/>
        </p:nvGraphicFramePr>
        <p:xfrm>
          <a:off x="6766560" y="1188720"/>
          <a:ext cx="4965192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en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4572000"/>
          <a:ext cx="496519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  <a:gridCol w="1307592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If 30% worse…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Qualified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Media change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Pass rate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Acceptance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Share qualified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Cost per app ×1.3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+30%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Capacity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CHANNELS, RANKED BY COST PER HIRE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role buys hires cheapest-first; electricians run out of cheap sources after ~8</a:t>
            </a:r>
            <a:endParaRPr lang="en-US" sz="2200" dirty="0"/>
          </a:p>
        </p:txBody>
      </p:sp>
      <p:graphicFrame>
        <p:nvGraphicFramePr>
          <p:cNvPr id="5" name="cha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3776472"/>
                <a:gridCol w="1874520"/>
                <a:gridCol w="1874520"/>
                <a:gridCol w="1874520"/>
                <a:gridCol w="18745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(why)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Organic: careers site, BA Jobbörse, Google for Jobs (free)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3.9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14.6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2.3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1.3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I1a ATS rediscovery (already screened)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 / €23 · 4.4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 / €18 · 8.4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 / €25 · 2.4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 / €27 · 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I3 Polish corridor + pre-screen (≤40%)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€89 / €221 · 13.8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 lead ads (passive blue-collar reach)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€360 / €1,119 · 0.7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€100 / €247 · 3.0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 (Indeed, Jooble, Talent.com…)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€476 / €1,480 · 0.5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€109 / €269 · 2.8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€375 / €1,282 · 0.6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€425 / €1,587 · 0.5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 (high intent, low volume)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€210 / €651 · 3.9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€126 / €310 · 2.4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€210 / €716 · 1.0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€262 / €978 · 1.0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 (PLC/TIA and Meister profiles)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€175 / €598 · 8.6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€219 / €817 · 5.4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I2 Handwerk → Industrie (new pool)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€200 / €881 · 11.6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I1b Referrals (€1,000 bonus on hire)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€370 / €1,000 · 4.2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€466 / €1,000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€336 / €1,000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€308 / €1,000 · 0.4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 (German, CV-based, €1,449/ad)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€322 / €1,001 · 0.9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€166 / €409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€386 / €1,321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€386 / €1,443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937760"/>
            <a:ext cx="201168" cy="201168"/>
          </a:xfrm>
          <a:prstGeom prst="rect">
            <a:avLst/>
          </a:prstGeom>
          <a:solidFill>
            <a:srgbClr val="DCEFE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bought beyond the test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200400" y="4937760"/>
            <a:ext cx="201168" cy="201168"/>
          </a:xfrm>
          <a:prstGeom prst="rect">
            <a:avLst/>
          </a:prstGeom>
          <a:solidFill>
            <a:srgbClr val="FBEBC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4747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€750 test only (T)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943600" y="4937760"/>
            <a:ext cx="201168" cy="201168"/>
          </a:xfrm>
          <a:prstGeom prst="rect">
            <a:avLst/>
          </a:prstGeom>
          <a:solidFill>
            <a:srgbClr val="F2F4F6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not used (capacity reserve)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25780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Cells: cost per qualified / cost per hire · hires planned. Cost per hire = (cost per application × applications + set-up) ÷ hires at full capacity; I2 includes €1,200 set-up, I3 €400 translation. StepStone's single ad works out at €1,583 per hire: costed whole, credited only the applications the plan needs (conservative).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57607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Researched: StepStone €1,449/30-day ad (instaffo.com) · Pracuj.pl ~1,499 PLN/ad, indicative (dlafirm.pracuj.pl) · Indeed CPC $0.10–5+ (pin.com) · LinkedIn CPC $4–8 (peoplebox.ai) · Appcast apply rate 6.1% (2025 benchmark). Everything else: own estimates, labelled on the Assumptions tab.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BUDGET, ALLOCATION AND PHASING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€38.7k planned across roles and weeks, plus €8.8k reserve released on results</a:t>
            </a:r>
            <a:endParaRPr lang="en-US" sz="2200" dirty="0"/>
          </a:p>
        </p:txBody>
      </p:sp>
      <p:graphicFrame>
        <p:nvGraphicFramePr>
          <p:cNvPr id="4" name="cashChart" descr=""/>
          <p:cNvGraphicFramePr/>
          <p:nvPr/>
        </p:nvGraphicFramePr>
        <p:xfrm>
          <a:off x="457200" y="1188720"/>
          <a:ext cx="60350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84632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Build: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€20.4k paid channels (incl. €9.0k tests) + €16.7k initiative media, pre-screen calls and bonuses + €1.6k set-up = €38.7k. Reserve: 15% of €45.6k plus rounding = €8.8k.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Phasing: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weeks 1–2 cost €14.1k (30%), mostly tests. Duds are cut from Mon 2 Nov (after €500 / 30 apps); tests and the full re-allocation are judged by Mon 9 Nov; the reserve moves only from week 3. Paid media stops after 27 Nov.</a:t>
            </a:r>
            <a:endParaRPr lang="en-US" sz="1100" dirty="0"/>
          </a:p>
        </p:txBody>
      </p:sp>
      <p:graphicFrame>
        <p:nvGraphicFramePr>
          <p:cNvPr id="6" name="role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188720"/>
          <a:ext cx="4965192" cy="914400"/>
        </p:xfrm>
        <a:graphic>
          <a:graphicData uri="http://schemas.openxmlformats.org/drawingml/2006/table">
            <a:tbl>
              <a:tblPr/>
              <a:tblGrid>
                <a:gridCol w="1399032"/>
                <a:gridCol w="914400"/>
                <a:gridCol w="822960"/>
                <a:gridCol w="73152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…tests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€19.9k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€123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€447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€6.6k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€655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€38.7k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€9.0k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€387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chan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3337560"/>
          <a:ext cx="4965192" cy="914400"/>
        </p:xfrm>
        <a:graphic>
          <a:graphicData uri="http://schemas.openxmlformats.org/drawingml/2006/table">
            <a:tbl>
              <a:tblPr/>
              <a:tblGrid>
                <a:gridCol w="1947672"/>
                <a:gridCol w="1005840"/>
                <a:gridCol w="822960"/>
                <a:gridCol w="118872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22.1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€3.0k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€1.4k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€1,583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€9.5k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14.0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€1.5k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€5.0k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rediscovery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€0.3k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16.7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referrals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€4.6k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Handwerk→Industrie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€10.2k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11.6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Polish corridor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€3.1k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13.8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WHAT A SMALLER BUDGET BUYS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 less (€33.25k) still signs ~91, but electricians take most of the loss</a:t>
            </a:r>
            <a:endParaRPr lang="en-US" sz="2200" dirty="0"/>
          </a:p>
        </p:txBody>
      </p:sp>
      <p:graphicFrame>
        <p:nvGraphicFramePr>
          <p:cNvPr id="4" name="scenChart" descr=""/>
          <p:cNvGraphicFramePr/>
          <p:nvPr/>
        </p:nvGraphicFramePr>
        <p:xfrm>
          <a:off x="457200" y="118872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ce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88720"/>
          <a:ext cx="4233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130759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Budget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100% · €47.50k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€475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 · €40.38k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€417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 · €33.25k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€367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 · €23.75k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€296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108960"/>
            <a:ext cx="292608" cy="29260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09560" y="3063240"/>
            <a:ext cx="382219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Rule: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cut the most expensive cost-per-hire cells first, including their tests and set-up; keep the reserve at 15%.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Falls short first: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electricians (23 of 30 at −30%), then supervisors (8 of 10). Mechatronics never falls short.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I'd tell the client: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last €14.25k buys ~9 hires at ~€1,550 each, mostly electricians, the role that keeps lines running. Keep it. If you must cut, cover supervisors through internal promotion and protect electricians. Above €47.5k, money buys almost nothing before 31 Dec: the 55/week limit binds.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3 · NEW SOURCES BEYOND THE USUAL PAID CHANNELS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sources supply ~47 of the 100 hires, one built for electricians</a:t>
            </a:r>
            <a:endParaRPr lang="en-US" sz="2200" dirty="0"/>
          </a:p>
        </p:txBody>
      </p:sp>
      <p:sp>
        <p:nvSpPr>
          <p:cNvPr id="4" name="init0"/>
          <p:cNvSpPr/>
          <p:nvPr/>
        </p:nvSpPr>
        <p:spPr>
          <a:xfrm>
            <a:off x="457200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I1 · ATS rediscovery + referral sprint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~700 past applicants qualified but not hired; ~1,000 plant technicians as referrers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DE email + SMS waves (days 2, 7, 14), 1-click re-apply; €1,000 bonus on a signed referral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Already screened (50% qualified), already wanted Tesla, €4 per application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€350 + €4.6k bonuses → 84 re-apps + 28 referrals → ~55 qualified → ~21 hires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Wed 21 Oct – Tue 3 Nov (waves 1–2): €350. Pass: ≥19 qualified (≥⅓ electricians). Kill: &lt;10 → stop the waves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wave 1 on day 2, set-up in 3 days. Client: ATS export + consent check, bonus approval, one staff message</a:t>
            </a:r>
            <a:endParaRPr lang="en-US" sz="1200" dirty="0"/>
          </a:p>
        </p:txBody>
      </p:sp>
      <p:sp>
        <p:nvSpPr>
          <p:cNvPr id="8" name="init1"/>
          <p:cNvSpPr/>
          <p:nvPr/>
        </p:nvSpPr>
        <p:spPr>
          <a:xfrm>
            <a:off x="4279392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984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I2 · Handwerk → Industrie (electricians)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16552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~12,000 construction electricians (Elektroniker EGT) within 75 km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Meta + Google ads with a 6-question quiz (Gesellenbrief, Elektrofachkraft, shifts, language); Tesla runs a 2–4 week bridge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 certified pool that never searches 'Betriebstechnik' jobs; roughly doubles the hardest pool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300 apps × €30 = €9.0k + €1.2k set-up → 45 qualified × 26% = 11.6 hires (€881/hire)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Fri 23 Oct – Fri 6 Nov (read Mon 9 Nov): €3.7k. Pass: ≥7 qualified at ≤€250. Kill: &lt;4, &gt;€300 per qualified, or profile rejected; week 4: &lt;40% interview pass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audiences, quiz, remote DE copywriter (€700), live 23 Oct. Client: profile sign-off by 23 Oct, bridge plan</a:t>
            </a:r>
            <a:endParaRPr lang="en-US" sz="1200" dirty="0"/>
          </a:p>
        </p:txBody>
      </p:sp>
      <p:sp>
        <p:nvSpPr>
          <p:cNvPr id="12" name="init2"/>
          <p:cNvSpPr/>
          <p:nvPr/>
        </p:nvSpPr>
        <p:spPr>
          <a:xfrm>
            <a:off x="8101584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12984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77072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I3 · Polish border corridor + pre-screener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238744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Mechatronics/Industriemechanik in Słubice, Kostrzyn, Gorzów, Zielona Góra (60–130 km, EU)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Pracuj.pl, OLX Praca and Polish-geo Meta; a remote Polish-speaking freelancer phones each applicant (~15 min, paid hourly)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Polish job seekers mostly use Polish boards (my estimate); the pre-screen saves your 55 slots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141 apps × €19.50 + €400 → 31 qualified × 45% = 13.8 hires (31% of mech, cap 40%)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27 Oct – Mon 9 Nov (freelancer starts 27 Oct): €1.2k. Pass: ≥5 qualified at ≤€110. Kill: &lt;3, &gt;€130 per qualified, or &lt;30% pass the language check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ads on day 3, contract the freelancer (live 27 Oct), script and scorecard, daily call 09:00 German time. Client: approve PL ads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5349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Repeatable Joveo product: ATS rediscovery.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Every large employer holds thousands of previously screened candidates who are rarely re-marketed to. Here they cost ~€20 per hire and fill week-1 slots before paid channels warm up. Joveo already matches jobs to supply programmatically. Adding a consented rediscovery source, tracked to hire with the same source tags, is repeatable in any market without local staff.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4 · RUN IT WEEK BY WEEK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by source × role weekly, move money on rules, test the riskiest assumptions early</a:t>
            </a:r>
            <a:endParaRPr lang="en-US" sz="2200" dirty="0"/>
          </a:p>
        </p:txBody>
      </p:sp>
      <p:sp>
        <p:nvSpPr>
          <p:cNvPr id="4" name="quad0"/>
          <p:cNvSpPr/>
          <p:nvPr/>
        </p:nvSpPr>
        <p:spPr>
          <a:xfrm>
            <a:off x="457200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167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(every Monday)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Spend, clicks, applications, qualified, assessed, interviewed, passed, offers and signed, by source × role. Data: Joveo platform (tracked URLs), Monday ATS export with the utm source in the source field, recruiter disposition codes, pre-screener sheet. Tracker tab → decisions + hire forecast.</a:t>
            </a:r>
            <a:endParaRPr lang="en-US" sz="1250" dirty="0"/>
          </a:p>
        </p:txBody>
      </p:sp>
      <p:sp>
        <p:nvSpPr>
          <p:cNvPr id="8" name="quad1"/>
          <p:cNvSpPr/>
          <p:nvPr/>
        </p:nvSpPr>
        <p:spPr>
          <a:xfrm>
            <a:off x="6144768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3167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47688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Money rules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281928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 judgement before €500 / 30 apps (tests run to €750). Updated Q = (qual + 30 × plan) ÷ (apps + 30). Cost per qualified ≤0.8× plan with free slots → +25%/wk from reserve; ≥1.5× → cut 50%; ≥2× → off. Zero qualified at €750 → off where ≥2 were expected; low-yield cells → off if applications are &lt;50% of plan. Next week forecast &gt;55 qualified → pause the costliest cells; &lt;45 → release reserve.</a:t>
            </a:r>
            <a:endParaRPr lang="en-US" sz="1250" dirty="0"/>
          </a:p>
        </p:txBody>
      </p:sp>
      <p:sp>
        <p:nvSpPr>
          <p:cNvPr id="12" name="quad2"/>
          <p:cNvSpPr/>
          <p:nvPr/>
        </p:nvSpPr>
        <p:spPr>
          <a:xfrm>
            <a:off x="457200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22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0120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Checks: Mon 2 Nov, confirmed 9 Nov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Pass rate on the week-1 cohort (interviews 29 Oct–2 Nov), the most sensitive input: if &lt;45% → tighter knock-outs, pre-screen calls, ask +10 slots, re-run the model. 2) Electrician supply: profile decision + I2's two-week read on 9 Nov; if killed → Meta, StepStone (up to 2 more ads), programmatic; expect ~25–27 electricians. 3) The 12 tests' cost per application and share qualified → re-rank on Assumptions §7. Week 4 (16 Nov): acceptance &lt;55% → earlier cut-off + signing bonus.</a:t>
            </a:r>
            <a:endParaRPr lang="en-US" sz="1250" dirty="0"/>
          </a:p>
        </p:txBody>
      </p:sp>
      <p:sp>
        <p:nvSpPr>
          <p:cNvPr id="16" name="quad3"/>
          <p:cNvSpPr/>
          <p:nvPr/>
        </p:nvSpPr>
        <p:spPr>
          <a:xfrm>
            <a:off x="6144768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9227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7688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five things in week 1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281928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Tue 20 Oct 09:00 CEST (12:30 IST): kick-off; lock slots, steps, 18 Dec date, bonus, EGT decision, utm tags; request ATS export. 2) Tue–Wed: launch planned cells and tests with tracked URLs + knock-outs. 3) Wed 21 Oct: rediscovery wave 1 + referral launch. 4) Wed–Fri: Polish ads, freelancer contracted; I2 live by Fri 23 Oct. 5) Mon 26 Oct: first read-out, line up the 2 Nov decisions.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 Uptime">
  <a:themeElements>
    <a:clrScheme name="Operation Uptime">
      <a:dk1>
        <a:srgbClr val="1C2833"/>
      </a:dk1>
      <a:lt1>
        <a:srgbClr val="FFFFFF"/>
      </a:lt1>
      <a:dk2>
        <a:srgbClr val="3D4F5F"/>
      </a:dk2>
      <a:lt2>
        <a:srgbClr val="EEF2F5"/>
      </a:lt2>
      <a:accent1>
        <a:srgbClr val="E8A317"/>
      </a:accent1>
      <a:accent2>
        <a:srgbClr val="1F8A70"/>
      </a:accent2>
      <a:accent3>
        <a:srgbClr val="B5452F"/>
      </a:accent3>
      <a:accent4>
        <a:srgbClr val="5D6D7E"/>
      </a:accent4>
      <a:accent5>
        <a:srgbClr val="D6DEE5"/>
      </a:accent5>
      <a:accent6>
        <a:srgbClr val="264653"/>
      </a:accent6>
      <a:hlink>
        <a:srgbClr val="1F6FB2"/>
      </a:hlink>
      <a:folHlink>
        <a:srgbClr val="6B4E9B"/>
      </a:folHlink>
    </a:clrScheme>
    <a:fontScheme name="Operation Upti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 Uptime</dc:title>
  <dc:subject>PptxGenJS Presentation</dc:subject>
  <dc:creator>PptxGenJS</dc:creator>
  <cp:lastModifiedBy>PptxGenJS</cp:lastModifiedBy>
  <cp:revision>1</cp:revision>
  <dcterms:created xsi:type="dcterms:W3CDTF">2026-10-08T18:19:04Z</dcterms:created>
  <dcterms:modified xsi:type="dcterms:W3CDTF">2026-10-08T18:19:04Z</dcterms:modified>
</cp:coreProperties>
</file>