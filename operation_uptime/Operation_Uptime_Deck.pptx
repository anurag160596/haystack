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36be1f79-3887-4443-4e24-5ec4a885815c}">
          <p14:sldIdLst>
            <p14:sldId id="256"/>
          </p14:sldIdLst>
        </p14:section>
        <p14:section name="Part 1 Funnel" id="{3e782c79-f585-9966-c89a-b790f94f19ad}">
          <p14:sldIdLst>
            <p14:sldId id="257"/>
            <p14:sldId id="258"/>
          </p14:sldIdLst>
        </p14:section>
        <p14:section name="Part 2 Channels &amp; budget" id="{17c6439d-bb3d-a118-0356-cc571bfcb041}">
          <p14:sldIdLst>
            <p14:sldId id="259"/>
            <p14:sldId id="260"/>
            <p14:sldId id="261"/>
          </p14:sldIdLst>
        </p14:section>
        <p14:section name="Part 3 New sources" id="{3edde6c8-9290-d423-84e2-c2d6a89dc256}">
          <p14:sldIdLst>
            <p14:sldId id="262"/>
          </p14:sldIdLst>
        </p14:section>
        <p14:section name="Part 4 Run it" id="{95904679-1b3f-005d-d1d4-36a78d0d1e40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Qualified applicants vs the 55/week limit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Qualified arriving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37</c:v>
                </c:pt>
                <c:pt idx="1">
                  <c:v>52</c:v>
                </c:pt>
                <c:pt idx="2">
                  <c:v>53</c:v>
                </c:pt>
                <c:pt idx="3">
                  <c:v>54</c:v>
                </c:pt>
                <c:pt idx="4">
                  <c:v>54</c:v>
                </c:pt>
                <c:pt idx="5">
                  <c:v>55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Assessment slots</c:v>
                </c:pt>
              </c:strCache>
            </c:strRef>
          </c:tx>
          <c:spPr>
            <a:solidFill>
              <a:srgbClr val="D6DE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</c:v>
                </c:pt>
                <c:pt idx="1">
                  <c:v>55</c:v>
                </c:pt>
                <c:pt idx="2">
                  <c:v>55</c:v>
                </c:pt>
                <c:pt idx="3">
                  <c:v>55</c:v>
                </c:pt>
                <c:pt idx="4">
                  <c:v>55</c:v>
                </c:pt>
                <c:pt idx="5">
                  <c:v>55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72</c:v>
                </c:pt>
                <c:pt idx="2">
                  <c:v>72</c:v>
                </c:pt>
                <c:pt idx="3">
                  <c:v>100</c:v>
                </c:pt>
                <c:pt idx="4">
                  <c:v>100</c:v>
                </c:pt>
                <c:pt idx="5">
                  <c:v>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× 12 cells)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CPC/CPA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4323</c:v>
                </c:pt>
                <c:pt idx="1">
                  <c:v>6762</c:v>
                </c:pt>
                <c:pt idx="2">
                  <c:v>9766</c:v>
                </c:pt>
                <c:pt idx="3">
                  <c:v>12446</c:v>
                </c:pt>
                <c:pt idx="4">
                  <c:v>12446</c:v>
                </c:pt>
                <c:pt idx="5">
                  <c:v>12374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11743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 (on signing)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388</c:v>
                </c:pt>
                <c:pt idx="4">
                  <c:v>702</c:v>
                </c:pt>
                <c:pt idx="5">
                  <c:v>1031</c:v>
                </c:pt>
                <c:pt idx="6">
                  <c:v>1346</c:v>
                </c:pt>
                <c:pt idx="7">
                  <c:v>1406</c:v>
                </c:pt>
                <c:pt idx="8">
                  <c:v>1655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Expected hires by role at each budget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Electricians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€102.50k</c:v>
                  </c:pt>
                  <c:pt idx="1">
                    <c:v>85% · €87.13k</c:v>
                  </c:pt>
                  <c:pt idx="2">
                    <c:v>70% · €71.75k</c:v>
                  </c:pt>
                  <c:pt idx="3">
                    <c:v>50% · €51.25k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27.9</c:v>
                </c:pt>
                <c:pt idx="2">
                  <c:v>23.4</c:v>
                </c:pt>
                <c:pt idx="3">
                  <c:v>16.5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Mechatronics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€102.50k</c:v>
                  </c:pt>
                  <c:pt idx="1">
                    <c:v>85% · €87.13k</c:v>
                  </c:pt>
                  <c:pt idx="2">
                    <c:v>70% · €71.75k</c:v>
                  </c:pt>
                  <c:pt idx="3">
                    <c:v>50% · €51.25k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</c:v>
                </c:pt>
                <c:pt idx="1">
                  <c:v>45</c:v>
                </c:pt>
                <c:pt idx="2">
                  <c:v>45</c:v>
                </c:pt>
                <c:pt idx="3">
                  <c:v>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Automation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€102.50k</c:v>
                  </c:pt>
                  <c:pt idx="1">
                    <c:v>85% · €87.13k</c:v>
                  </c:pt>
                  <c:pt idx="2">
                    <c:v>70% · €71.75k</c:v>
                  </c:pt>
                  <c:pt idx="3">
                    <c:v>50% · €51.25k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14.7</c:v>
                </c:pt>
                <c:pt idx="2">
                  <c:v>14.7</c:v>
                </c:pt>
                <c:pt idx="3">
                  <c:v>14.7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Supervisors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€102.50k</c:v>
                  </c:pt>
                  <c:pt idx="1">
                    <c:v>85% · €87.13k</c:v>
                  </c:pt>
                  <c:pt idx="2">
                    <c:v>70% · €71.75k</c:v>
                  </c:pt>
                  <c:pt idx="3">
                    <c:v>50% · €51.25k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</c:v>
                </c:pt>
                <c:pt idx="1">
                  <c:v>9.8</c:v>
                </c:pt>
                <c:pt idx="2">
                  <c:v>9.8</c:v>
                </c:pt>
                <c:pt idx="3">
                  <c:v>9.4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were generated from the model's Summary, Budget and Funnel tabs; re-run the deck build after changing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€102.5k signs 100 maintenance hires by 31 Dec if the 55 weekly assessments hold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€102.5k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recommended budget: €85.4k planned + €17.1k reserve released only on results</a:t>
            </a:r>
            <a:endParaRPr lang="en-US" sz="1000" dirty="0"/>
          </a:p>
        </p:txBody>
      </p:sp>
      <p:sp>
        <p:nvSpPr>
          <p:cNvPr id="7" name="stat1"/>
          <p:cNvSpPr/>
          <p:nvPr/>
        </p:nvSpPr>
        <p:spPr>
          <a:xfrm>
            <a:off x="233172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4144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€854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44144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media cost per hire (≤€1,025 if the reserve is spent); excludes Joveo fees</a:t>
            </a:r>
            <a:endParaRPr lang="en-US" sz="1000" dirty="0"/>
          </a:p>
        </p:txBody>
      </p:sp>
      <p:sp>
        <p:nvSpPr>
          <p:cNvPr id="10" name="stat2"/>
          <p:cNvSpPr/>
          <p:nvPr/>
        </p:nvSpPr>
        <p:spPr>
          <a:xfrm>
            <a:off x="45720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of 314 assessment slots used (305 qualified). Capacity, not money, is the limit</a:t>
            </a:r>
            <a:endParaRPr lang="en-US" sz="1000" dirty="0"/>
          </a:p>
        </p:txBody>
      </p:sp>
      <p:sp>
        <p:nvSpPr>
          <p:cNvPr id="13" name="stat3"/>
          <p:cNvSpPr/>
          <p:nvPr/>
        </p:nvSpPr>
        <p:spPr>
          <a:xfrm>
            <a:off x="233172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4144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Nov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44144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last useful application (17 Nov for supervisors): signatures by Fri 18 Dec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How sure: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~50% we sign all 100, ~80% at least 90 (my judgement; slots are 97% used). If pass or acceptance rates are 30% worse, ~72.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With 30% less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(€71.75k): ~93 hires; electricians fall short first (23 of 30).</a:t>
            </a:r>
            <a:endParaRPr lang="en-US" sz="11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188720"/>
          <a:ext cx="41148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75488"/>
                <a:gridCol w="548640"/>
                <a:gridCol w="640080"/>
                <a:gridCol w="15361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 / hire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sources (hires)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€46.5k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Handwerk→Industrie 9.5 · rediscovery 4.3 · StepStone 4.3 · referrals 4.1 · organic 3.8 · other 4.1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Mechatronics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Polish corridor 18.0 · organic 13.4 · rediscovery 7.7 · StepStone 4.8 · tests 1.2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€14.6k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8.6 · rediscovery 2.3 · organic 2.3 · referrals 1.5 · tests 0.3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€14.6k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€1,457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4.5 · StepStone 1.8 · rediscovery 1.3 · organic 1.1 · referrals 1.0 · other 0.2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€85.4k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€17.1k reserve = €102.5k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343400" y="4663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€750 test in every paid CPC/CPA cell in weeks 1–2, then buy hires cheapest-first: free channels → ATS rediscovery (~€13/hire) → Polish corridor (≤40% of mechatronics) → StepStone (7 ads) → referrals, LinkedIn → construction-electrician campaign, Search. Pace ≤55 qualified a week; paid spend stops Tue 24 Nov.</a:t>
            </a:r>
            <a:endParaRPr lang="en-US" sz="1100" dirty="0"/>
          </a:p>
        </p:txBody>
      </p:sp>
      <p:sp>
        <p:nvSpPr>
          <p:cNvPr id="19" name="risks"/>
          <p:cNvSpPr/>
          <p:nvPr/>
        </p:nvSpPr>
        <p:spPr>
          <a:xfrm>
            <a:off x="8686800" y="1188720"/>
            <a:ext cx="3044952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144000" y="12801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response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823960" y="1645920"/>
            <a:ext cx="2788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97% used. Pre-screened sources first, pace ≤55/wk, ask +10–15 slots (65/wk → 80% use).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~9 of 30 need your OK on construction electricians by 23 Oct; else more StepStone (~€1,022/hire), then Search and programmatic at €3.8k–€4.3k/hire.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3-day offers, e-signature, 7-day offer validity, stop spend Tue 24 Nov.</a:t>
            </a:r>
            <a:endParaRPr lang="en-US" sz="1100" dirty="0"/>
          </a:p>
        </p:txBody>
      </p:sp>
      <p:sp>
        <p:nvSpPr>
          <p:cNvPr id="23" name="asks"/>
          <p:cNvSpPr/>
          <p:nvPr/>
        </p:nvSpPr>
        <p:spPr>
          <a:xfrm>
            <a:off x="8686800" y="4114800"/>
            <a:ext cx="30449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224528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144000" y="42062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544568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assessments/wk 22 Oct–1 Dec (+10–15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ATS export (GDPR-checked) + utm source tags in ATS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3-day offers, e-signature to 18 Dec; approve €102.5k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~305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502920"/>
                <a:gridCol w="640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 → qual.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passed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Apps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635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28%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441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2,047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3192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Sourced where data exists (IAB: 28% of applications suitable; Gem interview-pass and Königsteiner/StepStone offer-acceptance data), own estimates otherwise; each labelled on the Assumptions tab. Few applicants qualify (brief), and foreign-trained electricians can't be recognised in time (2–4 months, §6 BQFG). Acceptance reflects counter-offers in Engpass trades. With the channel mix, the plan needs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305 qualified / 1,525 applications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(initiatives bring better-screened people).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1663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Application → assessment 6 days, → interview 8, → offer 3, → signature 7 (first two: SmartRecruiters DE benchmark); supervisors +7. Last realistic signature Fri 18 Dec, so applications must arrive by Tue 24 Nov (E/M/A) and Tue 17 Nov (supervisors). Slots = 55 × 40 days ÷ 7 = 314.</a:t>
            </a:r>
            <a:endParaRPr lang="en-US" sz="1200" dirty="0"/>
          </a:p>
        </p:txBody>
      </p:sp>
      <p:graphicFrame>
        <p:nvGraphicFramePr>
          <p:cNvPr id="7" name="capacityChart" descr=""/>
          <p:cNvGraphicFramePr/>
          <p:nvPr/>
        </p:nvGraphicFramePr>
        <p:xfrm>
          <a:off x="7040880" y="1188720"/>
          <a:ext cx="469087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040880" y="5120640"/>
            <a:ext cx="4690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Week 1: 37 of 39 slots; weeks 2–5: 52–54 of 55; week 6: 55; assessments end Mon 30 Nov. Rediscovery re-applicants (waves 21 Oct, 26 Oct and 2 Nov) and the €750 tests fill weeks 1–2, so regular spend ramps 7%, 11%, 16%, then 21–25% a week.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SENSITIVITY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~28 hires that money can't buy back</a:t>
            </a:r>
            <a:endParaRPr lang="en-US" sz="2200" dirty="0"/>
          </a:p>
        </p:txBody>
      </p:sp>
      <p:graphicFrame>
        <p:nvGraphicFramePr>
          <p:cNvPr id="4" name="h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868680"/>
                <a:gridCol w="1051560"/>
                <a:gridCol w="8229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coverage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…without I2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Share of reachable pool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Polish route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Foreign-trained by 31 Dec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1.5×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≤40%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1.6×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1.6×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42900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Why electricians: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largest scarce block (30), and the lowest coverage once the unproven construction-electrician campaign (I2) is removed. There is no Polish route and no foreign-trained route by 31 Dec, and energy/grid, rail, aerospace and agencies all chase the same certificate. Supervisors need a bigger share of a smaller pool, but they're only 10 hires with an internal-promotion fallback.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920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qualified → signed.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pass or acceptance rates need 436 qualified for 314 slots (139%). The 43% more media that would need can't help: slots cap hires at ~72. Upstream misses (share qualified, cost per application) only cost money.</a:t>
            </a:r>
            <a:endParaRPr lang="en-US" sz="1200" dirty="0"/>
          </a:p>
        </p:txBody>
      </p:sp>
      <p:graphicFrame>
        <p:nvGraphicFramePr>
          <p:cNvPr id="7" name="sensChart" descr=""/>
          <p:cNvGraphicFramePr/>
          <p:nvPr/>
        </p:nvGraphicFramePr>
        <p:xfrm>
          <a:off x="6766560" y="1188720"/>
          <a:ext cx="496519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en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4572000"/>
          <a:ext cx="49651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30759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If 30% worse…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Media change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Pass rate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Acceptance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Share qualified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Cost per app ×1.3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+30%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Capacity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role buys hires cheapest-first; electricians run out of cheap sources after ~8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(why)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Organic: careers site, BA Jobbörse, Google for Jobs (free)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13.4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2.3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I1a ATS rediscovery (already screened)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€14 · 4.3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€12 · 7.7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€15 · 2.3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€18 · 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I3 Polish corridor + pre-screen (≤40%)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€92 / €248 · 18.0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 (German, CV-based, €1,449/ad)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€322 / €1,022 · 4.3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€166 / €446 · 4.8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€1,363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€1,624 · 1.8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I1b Referrals (€1,000 bonus on hire)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€362 / €1,000 · 4.1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€427 / €1,000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€326 / €1,000 · 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€274 / €1,000 · 1.0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 (PLC/TIA and Meister profiles)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€384 / €1,354 · 8.6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€480 / €2,017 · 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lead ads (passive blue-collar reach)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€1,680 / €5,333 · 0.1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€700 / €1,886 · 0.4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 (high intent, low volume)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€1,193 / €3,788 · 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€716 / €1,929 · 0.4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€1,193 / €4,209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€1,492 / €6,268 · 0.1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 (Indeed, Jooble, Talent.com…)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€1,342 / €4,259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€732 / €1,971 · 0.4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€1,342 / €4,733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€1,610 / €6,765 · 0.1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I2 Handwerk → Industrie (new pool)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€560 / €2,349 · 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937760"/>
            <a:ext cx="201168" cy="201168"/>
          </a:xfrm>
          <a:prstGeom prst="rect">
            <a:avLst/>
          </a:prstGeom>
          <a:solidFill>
            <a:srgbClr val="DCEFE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bought beyond the test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00400" y="4937760"/>
            <a:ext cx="201168" cy="201168"/>
          </a:xfrm>
          <a:prstGeom prst="rect">
            <a:avLst/>
          </a:prstGeom>
          <a:solidFill>
            <a:srgbClr val="FBEBC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747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€750 test only (T)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43600" y="4937760"/>
            <a:ext cx="201168" cy="201168"/>
          </a:xfrm>
          <a:prstGeom prst="rect">
            <a:avLst/>
          </a:prstGeom>
          <a:solidFill>
            <a:srgbClr val="F2F4F6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not used (capacity reserve)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Cells: cost per qualified / cost per hire · hires planned. Cost per hire = (cost per application × applications + set-up) ÷ hires at full capacity; I2 includes €1,200 set-up, I3 €400 translation. StepStone ads (7 × €1,449) are costed whole and credited only the applications the plan needs (conservative).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Sourced: StepStone €1,449/30-day ad (stepstone.de price list) · cost per application, DACH medians: Indeed €161, Google €179, LinkedIn €96, Meta €84 (TalentBait, 2,549 campaigns, 2024–26) · share qualified: 28% of applications suitable (IAB-Stellenerhebung 2026) · pools: BA employment statistics by KldB code (Dec 2025) · time-to-offer: SmartRecruiters Germany benchmark. Every source (with its link) and every remaining own estimate is labelled on the Assumptions tab.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€85.4k planned across roles and weeks, plus €17.1k reserve released on results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84632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Build: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€52.0k paid channels (incl. €9.0k tests) + €31.8k initiative media, pre-screen calls and bonuses + €1.6k set-up = €85.4k. Reserve: 15% of €100.5k plus rounding = €17.1k.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Phasing: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weeks 1–2 cost €31.8k (31%), mostly tests. Duds are cut from Mon 2 Nov (after €500 / 30 apps); tests and the full re-allocation are judged by Mon 9 Nov; the reserve moves only from week 3. Paid media stops after Tue 24 Nov.</a:t>
            </a:r>
            <a:endParaRPr lang="en-US" sz="1100" dirty="0"/>
          </a:p>
        </p:txBody>
      </p:sp>
      <p:graphicFrame>
        <p:nvGraphicFramePr>
          <p:cNvPr id="6" name="role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188720"/>
          <a:ext cx="4965192" cy="914400"/>
        </p:xfrm>
        <a:graphic>
          <a:graphicData uri="http://schemas.openxmlformats.org/drawingml/2006/table">
            <a:tbl>
              <a:tblPr/>
              <a:tblGrid>
                <a:gridCol w="1399032"/>
                <a:gridCol w="914400"/>
                <a:gridCol w="822960"/>
                <a:gridCol w="73152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€46.5k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€14.6k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€14.6k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€1,457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€85.4k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€854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n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337560"/>
          <a:ext cx="496519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1005840"/>
                <a:gridCol w="822960"/>
                <a:gridCol w="11887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€3,632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€10.1k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€937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€20.8k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13.1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€1,584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€2,786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€16.6k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€3,710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15.7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6.5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€22.2k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€2,349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(€71.75k) still signs ~93, but electricians take most of the loss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30759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 · €102.50k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€1,025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 · €87.13k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€895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 · €71.75k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€773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 · €51.25k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108960"/>
            <a:ext cx="292608" cy="29260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3063240"/>
            <a:ext cx="382219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cells first, including their tests and set-up; keep the reserve at 15%.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(23 of 30 at −30%); automation and supervisors lose under 1 hire each (14.7 of 15, 9.8 of 10). Mechatronics never falls short.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€30.75k buys ~7 hires at ~€4,290 each, mostly electricians, the role that keeps lines running. Keep it. If you must cut, cover supervisors through internal promotion and protect electricians. Above €102.5k, extra money buys at most ~3 more hires (the 9 spare slots); then the 55/week limit binds.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~50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~700 past applicants qualified but not hired; ~1,000 plant technicians as referrers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 email + SMS waves (days 2, 7, 14), 1-click re-apply; €1,000 bonus on a signed referral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Already screened (50% qualified, my estimate), already wanted Tesla, ~€3 per application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€210 + €6.5k bonuses → 84 re-apps + 43 referrals → ~61 qualified → ~22 hires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Wed 21 Oct – Tue 3 Nov (waves 1–3): €210. Pass: ≥20 qualified (≥⅓ electricians). Kill: &lt;11 → no further re-contacts; bonus stays live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copy, segments and tracked links ready before 20 Oct; wave 1 on day 2 once the GDPR-checked export arrives. Client: ATS export + consent check, bonus approval, one staff message</a:t>
            </a:r>
            <a:endParaRPr lang="en-US" sz="120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~10,000 construction electricians (Elektroniker EGT, BA KldB 2621) within 75 km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Meta + Google ads with a 6-question quiz (Gesellenbrief, Elektrofachkraft, shifts, language); Tesla runs a 2–4 week bridge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 certified pool that never searches 'Betriebstechnik' jobs; roughly doubles the hardest pool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250 apps × €84 = €21.0k + €1.2k set-up → 38 qualified × 25% = 9.5 hires (€2,349/hire)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Fri 23 Oct – Thu 5 Nov (read Mon 9 Nov): €5.8k. Pass: ≥4 qualified at ≤€700. Kill: &lt;3, &gt;€840 per qualified, or profile rejected; week 4: &lt;40% interview pass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audiences, quiz, remote DE copywriter (€700), live 23 Oct. Client: profile sign-off by 23 Oct, bridge plan</a:t>
            </a:r>
            <a:endParaRPr lang="en-US" sz="120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Mechatronics/Industriemechanik in Słubice, Kostrzyn, Gorzów, Zielona Góra (60–130 km, EU)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Pracuj.pl, OLX Praca and Polish-geo Meta; a remote Polish-speaking freelancer phones each applicant (~15 min, paid hourly)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Polish job seekers mostly use Polish boards (my estimate); the pre-screen saves your 55 slots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200 apps × €20.25 + €400 → 44 qualified × 41% = 18.0 hires (40% of mech, cap 40%)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27 Oct – Mon 9 Nov (freelancer starts 27 Oct): €1.5k. Pass: ≥7 qualified at ≤€120. Kill: &lt;4, &gt;€140 per qualified, or &lt;30% pass the language check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 on day 3, contract the freelancer (live 27 Oct), script and scorecard, daily call 09:00 German time. Client: approve PL ads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large employer holds thousands of previously screened candidates who are rarely re-marketed to. Here they cost ~€13 per hire and fill week-1 slots before paid channels warm up. Joveo already matches jobs to supply programmatically. Adding a consented rediscovery source, tracked to hire with the same source tags, is repeatable in any market without local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Spend, clicks, applications, qualified, assessed, interviewed, passed, offers and signed, by source × role. Data: Joveo platform (tracked URLs), Monday ATS export with the utm source in the source field, recruiter disposition codes, pre-screener sheet. Tracker tab → decisions + hire forecast.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judgement before €500 / 30 apps (tests run to €750). Updated Q = (qual + 30 × plan) ÷ (apps + 30). Cost per qualified ≤0.8× plan with free slots → +25%/wk from reserve; ≥1.5× → cut 50%; ≥2× → off. Zero qualified at €750 → off where ≥2 were expected; low-yield cells → off if applications are &lt;50% of plan. Next week forecast &gt;55 qualified → pause the costliest cells; &lt;45 → release reserve.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Checks: Mon 2 Nov, confirmed 9 Nov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Pass rate on the week-1 cohort (interviews 29 Oct–2 Nov), the most sensitive input: if &lt;45% → tighter knock-outs, pre-screen calls, ask +10 slots, re-run the model. 2) Electrician supply: profile decision + I2's two-week read on 9 Nov; if killed → more StepStone ads, then Search and programmatic; expect ~25–27 electricians (my judgement: capacity allows 30, but slower and at €1,022–€3,788 per hire). 3) The 12 tests' cost per application and share qualified → re-rank on Assumptions §7. Week 4 (16 Nov): acceptance &lt;55% → earlier cut-off + signing bonus.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Tue 20 Oct 09:00 CEST (12:30 IST): kick-off; lock slots, steps, 18 Dec date, bonus, EGT decision, utm tags; request ATS export. 2) Tue–Wed: launch planned cells and tests with tracked URLs + knock-outs. 3) Wed 21 Oct: rediscovery wave 1 + referral launch. 4) Wed–Fri: Polish ads, freelancer contracted; I2 live by Fri 23 Oct. 5) Mon 26 Oct: first read-out, line up the 2 Nov decisions.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PptxGenJS Presentation</dc:subject>
  <dc:creator>PptxGenJS</dc:creator>
  <cp:lastModifiedBy>PptxGenJS</cp:lastModifiedBy>
  <cp:revision>1</cp:revision>
  <dcterms:created xsi:type="dcterms:W3CDTF">2026-10-09T04:47:36Z</dcterms:created>
  <dcterms:modified xsi:type="dcterms:W3CDTF">2026-10-09T04:47:36Z</dcterms:modified>
</cp:coreProperties>
</file>