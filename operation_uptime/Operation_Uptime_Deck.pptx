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1fcf6e0f-dd7b-1c8a-d91b-49fd30472ba7}">
          <p14:sldIdLst>
            <p14:sldId id="256"/>
          </p14:sldIdLst>
        </p14:section>
        <p14:section name="Part 1 Funnel" id="{f4483b49-6276-932f-511c-bf1b063d8899}">
          <p14:sldIdLst>
            <p14:sldId id="257"/>
            <p14:sldId id="258"/>
          </p14:sldIdLst>
        </p14:section>
        <p14:section name="Part 2 Channels &amp; budget" id="{e6f3d0d1-af6d-b401-95ed-760ba5fd2496}">
          <p14:sldIdLst>
            <p14:sldId id="259"/>
            <p14:sldId id="260"/>
            <p14:sldId id="261"/>
          </p14:sldIdLst>
        </p14:section>
        <p14:section name="Part 3 New sources" id="{90b73861-fa43-3e79-1a39-cdbbc9b8caa8}">
          <p14:sldIdLst>
            <p14:sldId id="262"/>
          </p14:sldIdLst>
        </p14:section>
        <p14:section name="Part 4 Run it" id="{991bbb75-c7b7-8241-b263-874fee82182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54</c:v>
                </c:pt>
                <c:pt idx="2">
                  <c:v>54</c:v>
                </c:pt>
                <c:pt idx="3">
                  <c:v>53</c:v>
                </c:pt>
                <c:pt idx="4">
                  <c:v>54</c:v>
                </c:pt>
                <c:pt idx="5">
                  <c:v>54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6808</c:v>
                </c:pt>
                <c:pt idx="1">
                  <c:v>10925</c:v>
                </c:pt>
                <c:pt idx="2">
                  <c:v>13546</c:v>
                </c:pt>
                <c:pt idx="3">
                  <c:v>13539</c:v>
                </c:pt>
                <c:pt idx="4">
                  <c:v>13915</c:v>
                </c:pt>
                <c:pt idx="5">
                  <c:v>12822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944</c:v>
                </c:pt>
                <c:pt idx="4">
                  <c:v>1606</c:v>
                </c:pt>
                <c:pt idx="5">
                  <c:v>2026</c:v>
                </c:pt>
                <c:pt idx="6">
                  <c:v>2059</c:v>
                </c:pt>
                <c:pt idx="7">
                  <c:v>2111</c:v>
                </c:pt>
                <c:pt idx="8">
                  <c:v>2483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25.4</c:v>
                </c:pt>
                <c:pt idx="2">
                  <c:v>20.7</c:v>
                </c:pt>
                <c:pt idx="3">
                  <c:v>20.7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44.7</c:v>
                </c:pt>
                <c:pt idx="2">
                  <c:v>44.7</c:v>
                </c:pt>
                <c:pt idx="3">
                  <c:v>38.6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14.5</c:v>
                </c:pt>
                <c:pt idx="2">
                  <c:v>14.5</c:v>
                </c:pt>
                <c:pt idx="3">
                  <c:v>14.5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9.6</c:v>
                </c:pt>
                <c:pt idx="2">
                  <c:v>7</c:v>
                </c:pt>
                <c:pt idx="3">
                  <c:v>2.4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€99.2k planned + €18.3k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(≤€1,175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314 assessment slots used (308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(17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100 if the funnel rates hold, with slots 98% used. Pass rates 10% worse: ~92 hires (slots run out); 30% worse: ~71.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(€82.25k): ~87 hires; electricians fall short first (20.7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896112"/>
                <a:gridCol w="457200"/>
                <a:gridCol w="640080"/>
                <a:gridCol w="603504"/>
                <a:gridCol w="151790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€37.9k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8.5 · Meta 6.3 · organic 5.9 · referrals 3.3 · programmatic 2.8 · other 3.3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€27.4k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Polish corridor 18.0 · organic 10.4 · referrals 5.8 · Meta 5.7 · rediscovery 2.4 · other 2.7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€1,175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9.7 · organic 2.7 · referrals 1.5 · rediscovery 0.6 · tests 0.5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€16.2k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€1,620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7.2 · organic 1.4 · referrals 0.7 · tests 0.4 · rediscovery 0.3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€99.2k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€18.3k reserve = €117.5k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→ Polish corridor (≤40% of mechatronics) → referrals → construction-electrician campaign → StepStone → LinkedIn → Meta → programmatic. Pace ≤55 qualified a week; paid spend stops Tue 24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98% used. Pre-screened sources first, pace ≤55/wk, ask +9 slots/wk (64/wk → 85% use, the utilisation standard).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~9 of 30 need your OK on construction electricians by 23 Oct; without them programmatic ads fill the gap and the budget rises to €127.5k.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Tue 24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Oct–30 Nov (+9 to reach 85% use)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€117.5k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Sourced where data exists (IAB: 28% of applications suitable; Gem interview-pass and Königsteiner/StepStone offer-acceptance data), own estimates otherwise; each labelled on the Assumptions tab. Few applicants qualify (brief), and foreign-trained electricians can't be recognised in time (2–4 months, §6 BQFG).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308 qualified / 1,608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6 days, → interview 8, → offer 3, → signature 7 (first two: SmartRecruiters DE benchmark); supervisors +7. Last realistic signature Fri 18 Dec, so applications must arrive by Tue 24 Nov (E/M/A) and Tue 17 Nov (supervisors). Slots = 55 × 40 days ÷ 7 = 314.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53–54 of 55; week 6: 54; assessments end Mon 30 Nov. Rediscovery re-applicants (waves 21 Oct, 26 Oct and 2 Nov) and the €750 tests fill weeks 1–2, so regular spend ramps 9%, 14%, 18%, then 18–22%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3.4×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scarcest trade in Brandenburg (KOFA 2026: 85.7% of vacancies have no suitable unemployed candidate, vs 41.4% across all occupations) and the largest scarce block (30), so they take 38% of the money. No Polish route and no foreign-trained route by 31 Dec. Supervisors cost more per hire and automation has thinner coverage, but they are 10 and 15 hires with fallbacks (internal promotion, foreign-trained).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440 qualified for 314 slots (140%). The 43% more media that would need can't help: slots cap hires at ~71.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~7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5.9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€14 · 1.4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€12 · 2.4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€15 · 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€18 · 0.3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€134 / €383 · 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€362 / €1,000 · 3.3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€1,000 · 5.8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€326 / €1,000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€274 / €1,000 · 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€1,326 · 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€1,704 · 1.7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€1,446 · 2.0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€1,893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€583 / €2,451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€1,505 · 9.7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€464 / €1,949 · 7.2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€672 / €2,133 · 6.3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€672 / €1,810 · 5.7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€2,272 · 2.8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€1,927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€2,524 · 0.3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€778 / €3,268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€3,201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€2,716 · 0.3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€3,557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€1,096 / €4,606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 ads (4 × €1,449) are costed whole and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Sourced: cost per application, DACH medians: Indeed €161, Google €179, LinkedIn €96, Meta €84 (TalentBait 2024–26) · StepStone €1,449/ad, 12 applications per ad · share qualified: IAB 2026 (28%), channel index from IAB 2025 (job boards 0.90, careers page 0.71, social 0.50) · volume caps: channel reach (Trendence 2023: Indeed 36%, LinkedIn 15%) × in-market pool (BA 2025, Gallup 11%) · Meta volumes: Redline 2024–26. Every input's source or derivation is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€99.2k planned across roles and weeks, plus €18.3k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€69.7k paid channels (incl. €9.0k tests) + €27.9k initiative media, pre-screen calls and bonuses + €1.6k set-up = €99.2k. Reserve: 15% of €116.7k plus rounding = €18.3k.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€34.1k (29%), mostly tests. Duds are cut from Mon 2 Nov (after €500 / 30 apps); tests and the full re-allocation are judged by Mon 9 Nov; the reserve moves only from week 3. Paid media stops after Tue 24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€16.2k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€28.6k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€23.8k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12.0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€1,979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€11.2k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€11.3k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(€82.25k) still signs ~87;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€117.50k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€99.88k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€82.25k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€946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€58.75k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76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 −30%: electricians 20.7 of 30, supervisors 7.0 of 10, automation 14.5 of 15, mechatronics 44.7 of 45. Mechatronics slips to 44.7.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€35.25k buys ~13 hires at ~€2,700 each, mostly electricians, the role that keeps lines running. Keep it. If you must cut, cover supervisors through internal promotion and protect electricians. Above €117.5k, extra money buys at most ~2 more hires (the 6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~43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211 runners-up from the last year (consented talent pool); the plant's 10,703 staff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still qualified, below the 70% skills match Forrester reports), already wanted Tesla,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€63 + €11.2k bonuses → 25 re-apps + 66 referrals → ~42 qualified → ~16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€63. Pass: ≥12 qualified. Kill: &lt;9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(Elektroniker EGT, BA KldB 2621)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120 apps × €84 = €10.1k + €1.2k set-up → 30 qualified × 28% = 8.5 hires (€1,326/hire)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€4.0k. Pass: ≥4 qualified at ≤€500. Kill: &lt;2, &gt;€670 per qualified, or profile rejected; week 4: interview pass below the planned 45% once ≥10 interviews are in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(15 min, low end of Indeed’s 15–30 min range)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 is Poland's largest job board (762,827 offers in 2025); ~2,000 Polish trade workers already commute to Brandenburg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€2.5k. Pass: ≥10 qualified at ≤€200. Kill: &lt;7, &gt;€270 per qualified, or fewer than the planned 14% pass the language call after 30 calls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employer may keep consenting runners-up for up to a year, and they are rarely re-marketed to. Here 211 records cost ~€13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≤0.75× plan with free slots → +25%/wk from reserve; ≥1.5× → cut 50%; ≥2× → off. Zero qualified at €750 → off where ≥3 were expected; low-yield cells → off if applications are &lt;50% of plan. Next week forecast &gt;55 qualified → pause the costliest cells; &lt;50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below plan (electricians 50%) once ≥10 interviews are in → tighter knock-outs, pre-screen calls, ask +9 slots, re-run the model (pass 10% worse = ~92 hires). 2) Electrician supply: profile decision + I2's two-week read on 9 Nov; if killed → programmatic picks up the gap: all 30 still possible (model run with I2 off), budget €127.5k, electricians at €1,532 per hire. 3) The 12 tests' cost per application and share qualified → re-rank on Assumptions §7. Week 4 (16 Nov): acceptance below plan (70%) once ≥7 offers are out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2026-10-09T07:41:43Z</dcterms:created>
  <dcterms:modified xsi:type="dcterms:W3CDTF">2026-10-09T07:41:43Z</dcterms:modified>
</cp:coreProperties>
</file>