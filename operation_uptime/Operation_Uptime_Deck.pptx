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ummary" id="{5ab33925-92a7-b0dc-36ae-fbcee60535d5}">
          <p14:sldIdLst>
            <p14:sldId id="256"/>
          </p14:sldIdLst>
        </p14:section>
        <p14:section name="Part 1 Funnel" id="{f9f83de2-f83b-f70e-188a-d23016dc5b0c}">
          <p14:sldIdLst>
            <p14:sldId id="257"/>
            <p14:sldId id="258"/>
          </p14:sldIdLst>
        </p14:section>
        <p14:section name="Part 2 Channels &amp; budget" id="{f8249b27-bc07-91bc-8f29-6a75416b6ab2}">
          <p14:sldIdLst>
            <p14:sldId id="259"/>
            <p14:sldId id="260"/>
            <p14:sldId id="261"/>
          </p14:sldIdLst>
        </p14:section>
        <p14:section name="Part 3 New sources" id="{30a1c0ef-840e-68a2-fd45-e241a39598a8}">
          <p14:sldIdLst>
            <p14:sldId id="262"/>
          </p14:sldIdLst>
        </p14:section>
        <p14:section name="Part 4 Run it" id="{a4802716-74ad-b8ba-01f4-72d682cd9f94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C2833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C2833"/>
                </a:solidFill>
                <a:latin typeface="+mn-lt"/>
              </a:rPr>
              <a:t>Hires possible by 31 Dec if one input is 30% worse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Hires possible by 31 Dec</c:v>
                </c:pt>
              </c:strCache>
            </c:strRef>
          </c:tx>
          <c:spPr>
            <a:solidFill>
              <a:srgbClr val="26465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D4F5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Base case</c:v>
                  </c:pt>
                  <c:pt idx="1">
                    <c:v>Pass rate ×0.7</c:v>
                  </c:pt>
                  <c:pt idx="2">
                    <c:v>Acceptance ×0.7</c:v>
                  </c:pt>
                  <c:pt idx="3">
                    <c:v>Share qualified ×0.7</c:v>
                  </c:pt>
                  <c:pt idx="4">
                    <c:v>Cost per app ×1.3</c:v>
                  </c:pt>
                  <c:pt idx="5">
                    <c:v>Capacity ×0.7 (given)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71</c:v>
                </c:pt>
                <c:pt idx="2">
                  <c:v>71</c:v>
                </c:pt>
                <c:pt idx="3">
                  <c:v>100</c:v>
                </c:pt>
                <c:pt idx="4">
                  <c:v>100</c:v>
                </c:pt>
                <c:pt idx="5">
                  <c:v>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D4F5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D4F5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b"/>
        <c:majorGridlines>
          <c:spPr>
            <a:ln w="6350" cap="flat">
              <a:solidFill>
                <a:srgbClr val="E3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D6D7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C2833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C2833"/>
                </a:solidFill>
                <a:latin typeface="+mn-lt"/>
              </a:rPr>
              <a:t>Cash out by week (€)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Tests (€750 per channel)</c:v>
                </c:pt>
              </c:strCache>
            </c:strRef>
          </c:tx>
          <c:spPr>
            <a:solidFill>
              <a:srgbClr val="E8A31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Wk 1</c:v>
                  </c:pt>
                  <c:pt idx="1">
                    <c:v>Wk 2</c:v>
                  </c:pt>
                  <c:pt idx="2">
                    <c:v>Wk 3</c:v>
                  </c:pt>
                  <c:pt idx="3">
                    <c:v>Wk 4</c:v>
                  </c:pt>
                  <c:pt idx="4">
                    <c:v>Wk 5</c:v>
                  </c:pt>
                  <c:pt idx="5">
                    <c:v>Wk 6</c:v>
                  </c:pt>
                  <c:pt idx="6">
                    <c:v>Wk 7</c:v>
                  </c:pt>
                  <c:pt idx="7">
                    <c:v>Wk 8</c:v>
                  </c:pt>
                  <c:pt idx="8">
                    <c:v>Wk 9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3600</c:v>
                </c:pt>
                <c:pt idx="1">
                  <c:v>5400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Paid media</c:v>
                </c:pt>
              </c:strCache>
            </c:strRef>
          </c:tx>
          <c:spPr>
            <a:solidFill>
              <a:srgbClr val="26465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Wk 1</c:v>
                  </c:pt>
                  <c:pt idx="1">
                    <c:v>Wk 2</c:v>
                  </c:pt>
                  <c:pt idx="2">
                    <c:v>Wk 3</c:v>
                  </c:pt>
                  <c:pt idx="3">
                    <c:v>Wk 4</c:v>
                  </c:pt>
                  <c:pt idx="4">
                    <c:v>Wk 5</c:v>
                  </c:pt>
                  <c:pt idx="5">
                    <c:v>Wk 6</c:v>
                  </c:pt>
                  <c:pt idx="6">
                    <c:v>Wk 7</c:v>
                  </c:pt>
                  <c:pt idx="7">
                    <c:v>Wk 8</c:v>
                  </c:pt>
                  <c:pt idx="8">
                    <c:v>Wk 9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21494</c:v>
                </c:pt>
                <c:pt idx="1">
                  <c:v>10800</c:v>
                </c:pt>
                <c:pt idx="2">
                  <c:v>13258</c:v>
                </c:pt>
                <c:pt idx="3">
                  <c:v>13992</c:v>
                </c:pt>
                <c:pt idx="4">
                  <c:v>13524</c:v>
                </c:pt>
                <c:pt idx="5">
                  <c:v>1814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StepStone ads + set-up</c:v>
                </c:pt>
              </c:strCache>
            </c:strRef>
          </c:tx>
          <c:spPr>
            <a:solidFill>
              <a:srgbClr val="5D6D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Wk 1</c:v>
                  </c:pt>
                  <c:pt idx="1">
                    <c:v>Wk 2</c:v>
                  </c:pt>
                  <c:pt idx="2">
                    <c:v>Wk 3</c:v>
                  </c:pt>
                  <c:pt idx="3">
                    <c:v>Wk 4</c:v>
                  </c:pt>
                  <c:pt idx="4">
                    <c:v>Wk 5</c:v>
                  </c:pt>
                  <c:pt idx="5">
                    <c:v>Wk 6</c:v>
                  </c:pt>
                  <c:pt idx="6">
                    <c:v>Wk 7</c:v>
                  </c:pt>
                  <c:pt idx="7">
                    <c:v>Wk 8</c:v>
                  </c:pt>
                  <c:pt idx="8">
                    <c:v>Wk 9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7396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Referral bonuses</c:v>
                </c:pt>
              </c:strCache>
            </c:strRef>
          </c:tx>
          <c:spPr>
            <a:solidFill>
              <a:srgbClr val="1F8A7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Wk 1</c:v>
                  </c:pt>
                  <c:pt idx="1">
                    <c:v>Wk 2</c:v>
                  </c:pt>
                  <c:pt idx="2">
                    <c:v>Wk 3</c:v>
                  </c:pt>
                  <c:pt idx="3">
                    <c:v>Wk 4</c:v>
                  </c:pt>
                  <c:pt idx="4">
                    <c:v>Wk 5</c:v>
                  </c:pt>
                  <c:pt idx="5">
                    <c:v>Wk 6</c:v>
                  </c:pt>
                  <c:pt idx="6">
                    <c:v>Wk 7</c:v>
                  </c:pt>
                  <c:pt idx="7">
                    <c:v>Wk 8</c:v>
                  </c:pt>
                  <c:pt idx="8">
                    <c:v>Wk 9</c:v>
                  </c:pt>
                </c:lvl>
              </c:multiLvlStrCache>
            </c:multiLvl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3119</c:v>
                </c:pt>
                <c:pt idx="4">
                  <c:v>1728</c:v>
                </c:pt>
                <c:pt idx="5">
                  <c:v>1769</c:v>
                </c:pt>
                <c:pt idx="6">
                  <c:v>1899</c:v>
                </c:pt>
                <c:pt idx="7">
                  <c:v>2158</c:v>
                </c:pt>
                <c:pt idx="8">
                  <c:v>305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D4F5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C"/>
              </a:solidFill>
              <a:prstDash val="solid"/>
              <a:round/>
            </a:ln>
          </c:spPr>
        </c:majorGridlines>
        <c:numFmt formatCode="€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D6D7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C2833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C2833"/>
                </a:solidFill>
                <a:latin typeface="+mn-lt"/>
              </a:rPr>
              <a:t>Hires by role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Recommended (€122.5k)</c:v>
                </c:pt>
              </c:strCache>
            </c:strRef>
          </c:tx>
          <c:spPr>
            <a:solidFill>
              <a:srgbClr val="264653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D4F5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Electricians</c:v>
                  </c:pt>
                  <c:pt idx="1">
                    <c:v>Mechatronics</c:v>
                  </c:pt>
                  <c:pt idx="2">
                    <c:v>Automation</c:v>
                  </c:pt>
                  <c:pt idx="3">
                    <c:v>Supervisors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45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30% less (€85.75k)</c:v>
                </c:pt>
              </c:strCache>
            </c:strRef>
          </c:tx>
          <c:spPr>
            <a:solidFill>
              <a:srgbClr val="B5452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D4F5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Electricians</c:v>
                  </c:pt>
                  <c:pt idx="1">
                    <c:v>Mechatronics</c:v>
                  </c:pt>
                  <c:pt idx="2">
                    <c:v>Automation</c:v>
                  </c:pt>
                  <c:pt idx="3">
                    <c:v>Supervisors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20.5</c:v>
                </c:pt>
                <c:pt idx="1">
                  <c:v>44</c:v>
                </c:pt>
                <c:pt idx="2">
                  <c:v>14.5</c:v>
                </c:pt>
                <c:pt idx="3">
                  <c:v>8.1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00" u="none">
                  <a:solidFill>
                    <a:srgbClr val="3D4F5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D4F5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D6D7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5 one-page summary. All figures come from the model's Summary, Budget and Funnel tabs.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3" name="Text 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Uptime · hypothetical case · all figures from Operation_Uptime_Model.xlsx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731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PART 5 · SUMMARY FOR THE HEAD OF TALENT ACQUISITION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€122.5k signs 100 maintenance hires by 31 Dec, if the client can assess 55 a week</a:t>
            </a:r>
            <a:endParaRPr lang="en-US" sz="2200" dirty="0"/>
          </a:p>
        </p:txBody>
      </p:sp>
      <p:sp>
        <p:nvSpPr>
          <p:cNvPr id="4" name="stat0"/>
          <p:cNvSpPr/>
          <p:nvPr/>
        </p:nvSpPr>
        <p:spPr>
          <a:xfrm>
            <a:off x="457200" y="1188720"/>
            <a:ext cx="1234440" cy="1600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80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€122.5k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budget: €102.3k plan + €20.2k reserve, released only on results</a:t>
            </a:r>
            <a:endParaRPr lang="en-US" sz="950" dirty="0"/>
          </a:p>
        </p:txBody>
      </p:sp>
      <p:sp>
        <p:nvSpPr>
          <p:cNvPr id="7" name="stat1"/>
          <p:cNvSpPr/>
          <p:nvPr/>
        </p:nvSpPr>
        <p:spPr>
          <a:xfrm>
            <a:off x="1764792" y="1188720"/>
            <a:ext cx="1234440" cy="1600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56232" y="1280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€1,023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856232" y="178308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media cost per hire (€1,225 if the reserve is spent)</a:t>
            </a:r>
            <a:endParaRPr lang="en-US" sz="950" dirty="0"/>
          </a:p>
        </p:txBody>
      </p:sp>
      <p:sp>
        <p:nvSpPr>
          <p:cNvPr id="10" name="stat2"/>
          <p:cNvSpPr/>
          <p:nvPr/>
        </p:nvSpPr>
        <p:spPr>
          <a:xfrm>
            <a:off x="3072384" y="1188720"/>
            <a:ext cx="1234440" cy="1600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63824" y="1280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163824" y="178308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of 314 assessment slots used: capacity, not money, is the limit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971800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Plan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€750 test in each pay-per-click channel in weeks 1–2, then buy hires cheapest first.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Three new sources bring ~42 hires: past applicants + referrals, construction electricians, Polish border towns.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Pace ≤55 assessments a week; applications until Tue 24 Nov, signatures by Fri 18 Dec.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How sure: 100 if funnel rates hold, with no slack (98% of slots used); pass rate 10% worse → ~92; 30% less budget → ~87.</a:t>
            </a:r>
            <a:endParaRPr lang="en-US" sz="1200" dirty="0"/>
          </a:p>
        </p:txBody>
      </p:sp>
      <p:graphicFrame>
        <p:nvGraphicFramePr>
          <p:cNvPr id="2" name="hires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1188720"/>
          <a:ext cx="393192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685800"/>
                <a:gridCol w="914400"/>
                <a:gridCol w="1005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Role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Hires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Spend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€ / hire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Electricians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€39.1k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€1,304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Mechatronics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45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€30.1k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€670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Automation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€17.4k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€1,162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Supervisors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€15.5k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€1,555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€102.3k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€1,023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risks"/>
          <p:cNvSpPr/>
          <p:nvPr/>
        </p:nvSpPr>
        <p:spPr>
          <a:xfrm>
            <a:off x="8686800" y="1188720"/>
            <a:ext cx="3044952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0" y="1298448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9144000" y="128016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Top 3 risks → what I'll do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8823960" y="1645920"/>
            <a:ext cx="27889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Assessment capacity: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pace ≤55 a week, pre-screened sources first, ask for +9 slots. If assessments can't start 22 Oct: ~92 hires (100 then needs 60 a week).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Electrician supply: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construction-electrician route needs your OK by 23 Oct; without it €130k.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Christmas: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offers within 3 days, e-signature, stop spend Tue 24 Nov. At German process pace (8 + 12 days): ~92 hires; +9 slots a week restores 100.</a:t>
            </a:r>
            <a:endParaRPr lang="en-US" sz="1100" dirty="0"/>
          </a:p>
        </p:txBody>
      </p:sp>
      <p:sp>
        <p:nvSpPr>
          <p:cNvPr id="19" name="asks"/>
          <p:cNvSpPr/>
          <p:nvPr/>
        </p:nvSpPr>
        <p:spPr>
          <a:xfrm>
            <a:off x="8686800" y="3977640"/>
            <a:ext cx="3044952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0" y="4087368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9144000" y="406908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What I need from you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8778240" y="4407408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55 assessments a week from Thu 22 Oct (+9 if possible)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Day-1 export of past applicants (GDPR-checked)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€1,000 referral bonus + one staff message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Construction-electrician decision + bridge-course trainer by 23 Oct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Approve €122.5k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731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PART 1 · BUILD THE FUNNEL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back from 100 hires: ~308 qualified applicants for 314 assessment slots</a:t>
            </a:r>
            <a:endParaRPr lang="en-US" sz="2200" dirty="0"/>
          </a:p>
        </p:txBody>
      </p:sp>
      <p:graphicFrame>
        <p:nvGraphicFramePr>
          <p:cNvPr id="3" name="funnel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74980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640080"/>
                <a:gridCol w="914400"/>
                <a:gridCol w="960120"/>
                <a:gridCol w="868680"/>
                <a:gridCol w="868680"/>
                <a:gridCol w="960120"/>
                <a:gridCol w="1005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Role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Hires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App → qualified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Qualified → passed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Passed → offer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Offer → signed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Qualified needed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Applications needed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Electricians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25%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50%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90%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70%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95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381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Mechatronics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45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25%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55%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90%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75%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121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485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Automation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25%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45%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90%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70%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53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212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Supervisors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23%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40%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85%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70%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42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183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311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1,260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1605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Where the rates come from: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IAB (about 1 in 4 applications is suitable), Gem (interview pass rates), German offer-acceptance surveys. Each one is labelled on the Assumptions tab.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93776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Latest useful application: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work back from the last signature, Fri 18 Dec: offer → signed 7 days, interview → offer 3, assessment → interview 8, application → assessment 6. So applications must arrive by Tue 24 Nov (supervisors Tue 17 Nov).</a:t>
            </a:r>
            <a:endParaRPr lang="en-US" sz="1200" dirty="0"/>
          </a:p>
        </p:txBody>
      </p:sp>
      <p:sp>
        <p:nvSpPr>
          <p:cNvPr id="7" name="capacity"/>
          <p:cNvSpPr/>
          <p:nvPr/>
        </p:nvSpPr>
        <p:spPr>
          <a:xfrm>
            <a:off x="8229600" y="1188720"/>
            <a:ext cx="3502152" cy="4846320"/>
          </a:xfrm>
          <a:prstGeom prst="roundRect">
            <a:avLst>
              <a:gd name="adj" fmla="val 20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412480" y="1325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Capacity check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17373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8412480" y="2651760"/>
            <a:ext cx="3154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308 qualified applicants in the plan (from 1,495 applications) against 314 slots: 55 a week × 40 assessment days ÷ 7.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The plan fits, but with almost no headroom. Every week is paced to stay within 55 (Weekly tab).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chemeClr val="tx2"/>
                </a:solidFill>
              </a:rPr>
              <a:t>Why 308, not 311: referrals and past applicants convert better than the table's standard rates, so the plan needs slightly fewer. Applications: 1,495, not 1,260, because the plan's channels average 21% qualified (social ads lower), below the ~25% baseline.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731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PART 1 · HARDEST ROLE AND MOST SENSITIVE ASSUMPTION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Electricians are hardest; a 30% worse pass rate costs ~29 hires that money can't buy back</a:t>
            </a:r>
            <a:endParaRPr lang="en-US" sz="2200" dirty="0"/>
          </a:p>
        </p:txBody>
      </p:sp>
      <p:sp>
        <p:nvSpPr>
          <p:cNvPr id="4" name="hardest"/>
          <p:cNvSpPr/>
          <p:nvPr/>
        </p:nvSpPr>
        <p:spPr>
          <a:xfrm>
            <a:off x="457200" y="1188720"/>
            <a:ext cx="539496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50292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Why electricians are hardest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Scarcest trade in Brandenburg: 85.7% of vacancies have no suitable unemployed candidate, against 41.4% across all jobs (KOFA 2026).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Dearest last hire: €2,272, the highest of the four roles (Funnel column H).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 back door: no Polish route, and foreign-trained electricians need 2–4 months of recognition.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Automation has a tighter pool and less channel headroom (22% of reachable people vs 12%), but needs only 15 and costs less per hire, so it is watched weekly.</a:t>
            </a:r>
            <a:endParaRPr lang="en-US" sz="1300" dirty="0"/>
          </a:p>
        </p:txBody>
      </p:sp>
      <p:graphicFrame>
        <p:nvGraphicFramePr>
          <p:cNvPr id="6" name="sensChart" descr=""/>
          <p:cNvGraphicFramePr/>
          <p:nvPr/>
        </p:nvGraphicFramePr>
        <p:xfrm>
          <a:off x="6126480" y="1188720"/>
          <a:ext cx="5605272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126480" y="4526280"/>
            <a:ext cx="56052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Most sensitive: the pass rate.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30% worse means 440 qualified applicants for 314 slots, so only ~71 can be hired; spending more doesn't help. Acceptance ties, but fast offers protect it; the pass rate depends on the plant's own test and is only known after interviews (week-2 check). A weaker share qualified or dearer clicks only cost money, not hires: a 30% lower share qualified needs a €185k budget on a full re-run (cheap channels hit their caps); dearer clicks +30% media.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731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PART 2 · CHANNELS, RANKED BY COST PER HIRE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role buys its hires cheapest cost-per-hire first</a:t>
            </a:r>
            <a:endParaRPr lang="en-US" sz="2200" dirty="0"/>
          </a:p>
        </p:txBody>
      </p:sp>
      <p:graphicFrame>
        <p:nvGraphicFramePr>
          <p:cNvPr id="5" name="channel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6868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685800"/>
                <a:gridCol w="2834640"/>
                <a:gridCol w="868680"/>
                <a:gridCol w="960120"/>
                <a:gridCol w="868680"/>
                <a:gridCol w="868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Channel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Roles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Why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Spend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€ / qualified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€ / hire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Hires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Organic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E M A 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Free: careers site, BA Jobbörse, Google for Jobs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€0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€0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€0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20.0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Rediscovery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E M A 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Past applicants, already screened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€63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€5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€14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4.6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Polish corridor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Large pool across the border (≤40% of mechatronics)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€6.9k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€142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€383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18.0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Referrals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E M A 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Staff know the job; €1,000 bonus on signing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€11k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€370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€1,000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11.0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Handwerk→Industrie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Construction electricians: a new pool for the hardest role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€11.1k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€377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€1,329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8.4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StepStone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E 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Germany's main CV job board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€5.8k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€537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€1,564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3.7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LinkedIn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 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PLC and Meister profiles (automation, supervisors)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€27.2k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€444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€1,687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16.1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Programmatic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E M A 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Indeed and other boards, paid per application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€35.7k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€717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€2,142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16.7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Meta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E 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Reaches people who aren't job-hunting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€1.5k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€820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€2,388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Google Search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E M A 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High intent, but the dearest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€3k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€1,044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€3,442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€102.3k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€1,023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chanNotes"/>
          <p:cNvSpPr/>
          <p:nvPr/>
        </p:nvSpPr>
        <p:spPr>
          <a:xfrm>
            <a:off x="9326880" y="1188720"/>
            <a:ext cx="2404872" cy="4846320"/>
          </a:xfrm>
          <a:prstGeom prst="roundRect">
            <a:avLst>
              <a:gd name="adj" fmla="val 30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464040" y="1325880"/>
            <a:ext cx="214884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How it works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Cost per hire = cost per application ÷ share qualified ÷ qualified → signed.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Each channel is capped by how many people in the local talent pool it can reach.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Each pay-per-click channel gets a €750 test per role first; Search and Meta stay at test level, and so does programmatic for automation and supervisors.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Roles: E electricians, M mechatronics, A automation, S supervisors.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Per channel × role: Channels tab (cost per qualified col O, per hire col P, rank col AC).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731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PART 2 · BUDGET, ALLOCATION AND PHASING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€102.3k planned across roles and weeks, plus a €20.2k reserve</a:t>
            </a:r>
            <a:endParaRPr lang="en-US" sz="2200" dirty="0"/>
          </a:p>
        </p:txBody>
      </p:sp>
      <p:graphicFrame>
        <p:nvGraphicFramePr>
          <p:cNvPr id="4" name="cashChart" descr=""/>
          <p:cNvGraphicFramePr/>
          <p:nvPr/>
        </p:nvGraphicFramePr>
        <p:xfrm>
          <a:off x="457200" y="1188720"/>
          <a:ext cx="65836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budget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188720"/>
          <a:ext cx="432511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60120"/>
                <a:gridCol w="868680"/>
                <a:gridCol w="112471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Role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Spend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Hires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€ / hire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Electricians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€39.1k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€1,304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Mechatronics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€30.1k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45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€670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Automation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€17.4k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€1,162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Supervisors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€15.5k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€1,555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€102.3k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€1,023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406640" y="3886200"/>
            <a:ext cx="43251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Testing: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€9k in weeks 1–2: 12 tests of €750 (programmatic, LinkedIn, Meta, Search × role).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Moving money: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weak channels cut from Mon 2 Nov; tests judged by Mon 9 Nov.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Reserve: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€20.2k (15% + rounding), released from week 3 only on results.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Paid media stops: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Tue 24 Nov, the last useful application date (referral bonuses are paid as people sign).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502920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chemeClr val="tx2"/>
                </a:solidFill>
              </a:rPr>
              <a:t>Why week 1 is biggest: assessments start 22 Oct and an unused slot is lost, so week-1 applications must fill 11 days of slots (22 Oct – 1 Nov). The tests then decide where weeks 3–6 money goes. Week 6 is small: only 24 Nov is still a useful application day.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731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PART 2 · WHAT A SMALLER BUDGET BUYS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 less (€85.75k) signs ~87; electricians fall short first</a:t>
            </a:r>
            <a:endParaRPr lang="en-US" sz="2200" dirty="0"/>
          </a:p>
        </p:txBody>
      </p:sp>
      <p:graphicFrame>
        <p:nvGraphicFramePr>
          <p:cNvPr id="4" name="scenChart" descr=""/>
          <p:cNvGraphicFramePr/>
          <p:nvPr/>
        </p:nvGraphicFramePr>
        <p:xfrm>
          <a:off x="457200" y="118872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scen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188720"/>
          <a:ext cx="423367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05840"/>
                <a:gridCol w="139903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Budget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Hires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€ per hire (all-in)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Recommended · €122.5k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€1,225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30% less · €85.75k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87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€985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5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498080" y="2377440"/>
            <a:ext cx="423367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Rule: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cut the most expensive cost-per-hire channels first; keep the reserve at 15%.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Falls short first: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electricians 20.5 of 30, supervisors 8.1 of 10, mechatronics 44.0 of 45, automation 14.5 of 15.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What I'd tell the client: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the last €36.75k buys ~13 hires, mostly electricians, the people who keep the lines running. Keep it. If you must cut, the rule cuts the dearest channels, which are mostly electrician and supervisor channels: agree that up front, and cover supervisors by internal promotion.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731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PART 3 · NEW SOURCES BEYOND THE USUAL PAID CHANNELS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new sources supply ~42 of the 100 hires, one built for electricians</a:t>
            </a:r>
            <a:endParaRPr lang="en-US" sz="2200" dirty="0"/>
          </a:p>
        </p:txBody>
      </p:sp>
      <p:sp>
        <p:nvSpPr>
          <p:cNvPr id="4" name="init0"/>
          <p:cNvSpPr/>
          <p:nvPr/>
        </p:nvSpPr>
        <p:spPr>
          <a:xfrm>
            <a:off x="457200" y="1188720"/>
            <a:ext cx="3630168" cy="4206240"/>
          </a:xfrm>
          <a:prstGeom prst="roundRect">
            <a:avLst>
              <a:gd name="adj" fmla="val 20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98448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32688" y="12618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I1 · ATS rediscovery + referral sprint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691640"/>
            <a:ext cx="335584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chemeClr val="accent6"/>
                </a:solidFill>
              </a:rPr>
              <a:t>Who: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~211 past runners-up from the last 12 months (my estimate; the real export replaces it on day 1) + staff referrals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chemeClr val="accent6"/>
                </a:solidFill>
              </a:rPr>
              <a:t>How: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Email + SMS waves on days 2, 7 and 14; €1,000 bonus per signed referral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chemeClr val="accent6"/>
                </a:solidFill>
              </a:rPr>
              <a:t>Why better: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Already screened and already wanted Tesla; ~€2.50 per application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chemeClr val="accent6"/>
                </a:solidFill>
              </a:rPr>
              <a:t>Maths: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€63 + €11k bonuses → 25 re-apps + 66 referrals → ~42 qualified → ~16 hires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chemeClr val="accent6"/>
                </a:solidFill>
              </a:rPr>
              <a:t>2-week test: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Wed 21 Oct – Tue 3 Nov (waves 1–3): €63. Pass: ≥14 qualified. Kill: &lt;8 → no further re-contacts; bonus stays live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chemeClr val="accent6"/>
                </a:solidFill>
              </a:rPr>
              <a:t>Who does what: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Setup 1 day (live Wed 21 Oct). Me: copy, segments, tracked links. Client: GDPR-checked export, bonus approval, one staff message</a:t>
            </a:r>
            <a:endParaRPr lang="en-US" sz="1150" dirty="0"/>
          </a:p>
        </p:txBody>
      </p:sp>
      <p:sp>
        <p:nvSpPr>
          <p:cNvPr id="8" name="init1"/>
          <p:cNvSpPr/>
          <p:nvPr/>
        </p:nvSpPr>
        <p:spPr>
          <a:xfrm>
            <a:off x="4279392" y="1188720"/>
            <a:ext cx="3630168" cy="4206240"/>
          </a:xfrm>
          <a:prstGeom prst="roundRect">
            <a:avLst>
              <a:gd name="adj" fmla="val 20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552" y="1298448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754880" y="12618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I2 · Handwerk → Industrie (electricians)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4416552" y="1691640"/>
            <a:ext cx="335584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chemeClr val="accent6"/>
                </a:solidFill>
              </a:rPr>
              <a:t>Who: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~10,000 construction electricians within 75 km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chemeClr val="accent6"/>
                </a:solidFill>
              </a:rPr>
              <a:t>How: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Social and search ads with a 6-question quiz; Tesla runs a 2–4 week bridge course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chemeClr val="accent6"/>
                </a:solidFill>
              </a:rPr>
              <a:t>Why better: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Certified electricians who never search for plant jobs; more than doubles the hardest pool (10,000 vs 4,800)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chemeClr val="accent6"/>
                </a:solidFill>
              </a:rPr>
              <a:t>Maths: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118 apps × €84 = €9.9k + €1.2k set-up → 30 qualified × 28% = 8.4 hires (€1,329/hire)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chemeClr val="accent6"/>
                </a:solidFill>
              </a:rPr>
              <a:t>2-week test: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Fri 23 Oct – Thu 5 Nov (read Mon 9 Nov): €5.6k. Pass: ≥7 qualified at ≤€500. Kill: &lt;4, &gt;€670 per qualified, or profile rejected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chemeClr val="accent6"/>
                </a:solidFill>
              </a:rPr>
              <a:t>Who does what: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Setup 3 days (live Fri 23 Oct). Me: ads, quiz, German copywriter. Client: profile sign-off by 23 Oct; its maintenance trainers run the 2–4 week bridge course after signing (onboarding time, not campaign budget)</a:t>
            </a:r>
            <a:endParaRPr lang="en-US" sz="1150" dirty="0"/>
          </a:p>
        </p:txBody>
      </p:sp>
      <p:sp>
        <p:nvSpPr>
          <p:cNvPr id="12" name="init2"/>
          <p:cNvSpPr/>
          <p:nvPr/>
        </p:nvSpPr>
        <p:spPr>
          <a:xfrm>
            <a:off x="8101584" y="1188720"/>
            <a:ext cx="3630168" cy="4206240"/>
          </a:xfrm>
          <a:prstGeom prst="roundRect">
            <a:avLst>
              <a:gd name="adj" fmla="val 20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8744" y="1298448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577072" y="12618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I3 · Polish border corridor + pre-screener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8238744" y="1691640"/>
            <a:ext cx="335584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chemeClr val="accent6"/>
                </a:solidFill>
              </a:rPr>
              <a:t>Who: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Mechatronics workers in Polish border towns, 60–130 km away (EU)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chemeClr val="accent6"/>
                </a:solidFill>
              </a:rPr>
              <a:t>How: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Polish job boards and Meta; a Polish-speaking freelancer phones each applicant (15 min)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chemeClr val="accent6"/>
                </a:solidFill>
              </a:rPr>
              <a:t>Why better: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~1,700 Polish machine, metal and building workers already commute to Brandenburg (IAB 2020); the call checks language before using our slots. If response is only I2's rate (~219 applications): €132.5k; if it fails: €155k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chemeClr val="accent6"/>
                </a:solidFill>
              </a:rPr>
              <a:t>Maths: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346 apps × €18.75 + €400 → 48 qualified × 37% = 18.0 hires (40% of mech, cap 40%)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chemeClr val="accent6"/>
                </a:solidFill>
              </a:rPr>
              <a:t>2-week test: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Tue 27 Oct – Mon 9 Nov (freelancer starts 27 Oct): €3.2k. Pass: ≥12 qualified at ≤€200. Kill: &lt;7, &gt;€270 per qualified, or too few pass the language call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chemeClr val="accent6"/>
                </a:solidFill>
              </a:rPr>
              <a:t>Who does what: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Setup 1 week (live Tue 27 Oct). Me: Polish ads, hire the freelancer via rocketjobs.pl (~€19/h), call script, weekly call checks. Client: approve the ads</a:t>
            </a:r>
            <a:endParaRPr lang="en-US" sz="1150" dirty="0"/>
          </a:p>
        </p:txBody>
      </p:sp>
      <p:sp>
        <p:nvSpPr>
          <p:cNvPr id="16" name="Text 11"/>
          <p:cNvSpPr txBox="1"/>
          <p:nvPr/>
        </p:nvSpPr>
        <p:spPr>
          <a:xfrm>
            <a:off x="457200" y="5504688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Repeatable Joveo product: ATS rediscovery.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Employers that keep consented past applicants rarely run campaigns to them. Here ~211 records (my estimate) cost ~€14 per hire and fill week-1 slots. Joveo already runs the tracked links and distribution, and its Talent CRM re-engages past applicants, so a consented past-applicant feed becomes one more tracked source, in any market, with no local staff.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731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PART 4 · RUN IT WEEK BY WEEK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by source × role weekly, move money on rules, test the riskiest assumptions early</a:t>
            </a:r>
            <a:endParaRPr lang="en-US" sz="2200" dirty="0"/>
          </a:p>
        </p:txBody>
      </p:sp>
      <p:sp>
        <p:nvSpPr>
          <p:cNvPr id="4" name="quad0"/>
          <p:cNvSpPr/>
          <p:nvPr/>
        </p:nvSpPr>
        <p:spPr>
          <a:xfrm>
            <a:off x="457200" y="1188720"/>
            <a:ext cx="5586984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16736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128016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Track (every Monday)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691640"/>
            <a:ext cx="531266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By source × role: spend, applications, qualified. By role: assessed, passed, offers, signed (each hire keeps its ATS source tag)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Data: Joveo tracked links + Monday ATS export (source tag), recruiter codes, pre-screener sheet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Tracker tab turns this into decisions and a hire forecast</a:t>
            </a:r>
            <a:endParaRPr lang="en-US" sz="1250" dirty="0"/>
          </a:p>
        </p:txBody>
      </p:sp>
      <p:sp>
        <p:nvSpPr>
          <p:cNvPr id="8" name="quad1"/>
          <p:cNvSpPr/>
          <p:nvPr/>
        </p:nvSpPr>
        <p:spPr>
          <a:xfrm>
            <a:off x="6144768" y="1188720"/>
            <a:ext cx="5586984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28" y="1316736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647688" y="128016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Money rules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6281928" y="1691640"/>
            <a:ext cx="531266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Judge a channel only after €500 or 30 applications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20% cheaper than plan → +25% a week from the reserve; 50% dearer → halve; 2× → off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Over 55 qualified next week → pause the dearest; under 50 → release reserve</a:t>
            </a:r>
            <a:endParaRPr lang="en-US" sz="1250" dirty="0"/>
          </a:p>
        </p:txBody>
      </p:sp>
      <p:sp>
        <p:nvSpPr>
          <p:cNvPr id="12" name="quad2"/>
          <p:cNvSpPr/>
          <p:nvPr/>
        </p:nvSpPr>
        <p:spPr>
          <a:xfrm>
            <a:off x="457200" y="3794760"/>
            <a:ext cx="5586984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922776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60120" y="388620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Check by Mon 2 Nov (confirm 9 Nov)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594360" y="4297680"/>
            <a:ext cx="531266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Pass rate: first read 2 Nov, confirmed 9 Nov once a role has 10 interviews; if low → tighter knock-out questions, ask for more slots (10% lower ≈ 92 hires)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Construction electricians: if stopped, programmatic fills the gap (€130k)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Real test costs: re-rank channels; acceptance read after 5 offers</a:t>
            </a:r>
            <a:endParaRPr lang="en-US" sz="1250" dirty="0"/>
          </a:p>
        </p:txBody>
      </p:sp>
      <p:sp>
        <p:nvSpPr>
          <p:cNvPr id="16" name="quad3"/>
          <p:cNvSpPr/>
          <p:nvPr/>
        </p:nvSpPr>
        <p:spPr>
          <a:xfrm>
            <a:off x="6144768" y="3794760"/>
            <a:ext cx="5586984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3922776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647688" y="388620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First five things in week 1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6281928" y="4297680"/>
            <a:ext cx="531266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Tue 20 Oct: kick-off with client; lock slots, 18 Dec date, bonus; request ATS export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Tue–Wed: launch channels and tests with tracked links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Wed 21 Oct: past-applicant wave 1 + referral launch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Wed–Fri: set up Polish ads + freelancer (live 27 Oct); construction campaign live 23 Oct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Mon 26 Oct: first read-out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ration Uptime">
  <a:themeElements>
    <a:clrScheme name="Operation Uptime">
      <a:dk1>
        <a:srgbClr val="1C2833"/>
      </a:dk1>
      <a:lt1>
        <a:srgbClr val="FFFFFF"/>
      </a:lt1>
      <a:dk2>
        <a:srgbClr val="3D4F5F"/>
      </a:dk2>
      <a:lt2>
        <a:srgbClr val="EEF2F5"/>
      </a:lt2>
      <a:accent1>
        <a:srgbClr val="E8A317"/>
      </a:accent1>
      <a:accent2>
        <a:srgbClr val="1F8A70"/>
      </a:accent2>
      <a:accent3>
        <a:srgbClr val="B5452F"/>
      </a:accent3>
      <a:accent4>
        <a:srgbClr val="5D6D7E"/>
      </a:accent4>
      <a:accent5>
        <a:srgbClr val="D6DEE5"/>
      </a:accent5>
      <a:accent6>
        <a:srgbClr val="264653"/>
      </a:accent6>
      <a:hlink>
        <a:srgbClr val="1F6FB2"/>
      </a:hlink>
      <a:folHlink>
        <a:srgbClr val="6B4E9B"/>
      </a:folHlink>
    </a:clrScheme>
    <a:fontScheme name="Operation Uptim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Operation Uptime</dc:title>
  <dc:subject>Operation Uptime case study</dc:subject>
  <dc:creator/>
  <cp:lastModifiedBy/>
  <cp:revision>1</cp:revision>
  <dcterms:created xsi:type="dcterms:W3CDTF">2026-10-09T16:15:50Z</dcterms:created>
  <dcterms:modified xsi:type="dcterms:W3CDTF">2026-10-09T16:15:50Z</dcterms:modified>
</cp:coreProperties>
</file>