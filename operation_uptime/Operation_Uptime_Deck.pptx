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36363604-2906-6250-aa1b-624a3114097d}">
          <p14:sldIdLst>
            <p14:sldId id="256"/>
          </p14:sldIdLst>
        </p14:section>
        <p14:section name="Part 1 Funnel" id="{6f7a91f6-cdfb-c1bd-c2d4-2e6eadd0bdd3}">
          <p14:sldIdLst>
            <p14:sldId id="257"/>
            <p14:sldId id="258"/>
          </p14:sldIdLst>
        </p14:section>
        <p14:section name="Part 2 Channels &amp; budget" id="{d1adaa91-57e6-263b-75f4-66ce9655cd2e}">
          <p14:sldIdLst>
            <p14:sldId id="259"/>
            <p14:sldId id="260"/>
            <p14:sldId id="261"/>
          </p14:sldIdLst>
        </p14:section>
        <p14:section name="Part 3 New sources" id="{dac1dd19-520a-c259-7dc6-cfd98d7cd407}">
          <p14:sldIdLst>
            <p14:sldId id="262"/>
          </p14:sldIdLst>
        </p14:section>
        <p14:section name="Part 4 Run it" id="{c3dc25a9-f77b-8b32-5d85-bd07e1d27eb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19436</c:v>
                </c:pt>
                <c:pt idx="1">
                  <c:v>10836</c:v>
                </c:pt>
                <c:pt idx="2">
                  <c:v>13809</c:v>
                </c:pt>
                <c:pt idx="3">
                  <c:v>14175</c:v>
                </c:pt>
                <c:pt idx="4">
                  <c:v>14175</c:v>
                </c:pt>
                <c:pt idx="5">
                  <c:v>1863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2566</c:v>
                </c:pt>
                <c:pt idx="4">
                  <c:v>1728</c:v>
                </c:pt>
                <c:pt idx="5">
                  <c:v>1992</c:v>
                </c:pt>
                <c:pt idx="6">
                  <c:v>2087</c:v>
                </c:pt>
                <c:pt idx="7">
                  <c:v>2092</c:v>
                </c:pt>
                <c:pt idx="8">
                  <c:v>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(€120k)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(€84k)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20.6</c:v>
                </c:pt>
                <c:pt idx="1">
                  <c:v>44.4</c:v>
                </c:pt>
                <c:pt idx="2">
                  <c:v>14.5</c:v>
                </c:pt>
                <c:pt idx="3">
                  <c:v>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€101.7k plan + €18.3k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€1,017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(€1,200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qualified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€120k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1,490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1,490,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the tighter pool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 (+43% / +30% media), not hires.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3383280"/>
                <a:gridCol w="105156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per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8595360" y="1188720"/>
            <a:ext cx="3136392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325880"/>
            <a:ext cx="28346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pay-per-click channel gets a €750 test per role first; the dearest (Search, most programmatic) stay at test level.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€101.7k planned across roles and weeks, plus a €18.3k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€18.3k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Spend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(€84k)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20.6 of 30, supervisors 7.5 of 10, mechatronics 44.4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≥13 qualified. Kill: &lt;7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€4.9k. Pass: ≥6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Oct, bridge course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~13,800 Poles commute to Brandenburg jobs, ~1,700 in machine, metal and building trades (IAB 2020); the call checks language before using our slots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employer holds past applicants who consented to be kept on file (GDPR allows up to a year), and nobody re-markets them. Here 211 records cost ~€14 per hire and fill week-1 slots. Joveo already runs the tracked links and distribution, so a consented past-applicant feed is one more source in the same pipeline,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2026-10-09T14:21:50Z</dcterms:created>
  <dcterms:modified xsi:type="dcterms:W3CDTF">2026-10-09T14:21:50Z</dcterms:modified>
</cp:coreProperties>
</file>